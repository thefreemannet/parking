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research question. Parking waste matters for traffic, energy, and city space. One camera can watch many spots—but only if models stay accurate under rain, glare, and shadows. Preview: we compare three transfer-learning CNNs plus a baseline on two public datasets.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about two minutes here. Emphasize that high lab accuracy is not the same as reliability in rain, shadows, and odd camera angles. Tie to research questions RQ1–RQ4.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literature brief. Our contribution is a reproducible comparison under shared splits, metrics, and condition breakdowns—not a new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PKLot gives weather labels; CNRPark-EXT gives a second parking environment. Splits are scene/camera-aware when possible (seed 42) to reduce near-duplicate leakage.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Transfer learning freezes ImageNet features and trains a small head. Identical protocol so differences reflect architecture. YOLO is an optional secondary task.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pipeline quickly. Stress reproducibility: fixed seed, shared config, archived split manifest and metrics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just read the table. Interpret: MobileNetV3 wins the practical trade-off. ResNet50 is competitive but heavier. Flag that these numbers validate the pipeline; full-dataset results are the research claims.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one matrix: true empty vs occupied. MobileNetV3 recovers both classes; baseline collapses toward one class.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to hypotheses: H1 condition drops, H2 dataset differences, H3 failure cases justify fusion research. Be honest that demo weather labels are synthetic.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Conclude—do not just summarize. Prefer lightweight models for cameras; report condition metrics; plan fusion where vision fails.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Have failure CSV and confusion matrices ready. Mention GitHub for reproducibility.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63040"/>
            <a:ext cx="10515600" cy="365760"/>
          </a:xfrm>
          <a:prstGeom prst="rect">
            <a:avLst/>
          </a:prstGeom>
          <a:noFill/>
        </p:spPr>
        <p:txBody>
          <a:bodyPr wrap="none">
            <a:spAutoFit/>
          </a:bodyPr>
          <a:lstStyle/>
          <a:p>
            <a:r>
              <a:rPr sz="1400" b="1">
                <a:solidFill>
                  <a:srgbClr val="0B6E7A"/>
                </a:solidFill>
                <a:latin typeface="Calibri"/>
              </a:rPr>
              <a:t>CAI2840C  ·  Introduction to Computer Vision  ·  Research Presentation</a:t>
            </a:r>
          </a:p>
        </p:txBody>
      </p:sp>
      <p:sp>
        <p:nvSpPr>
          <p:cNvPr id="6" name="TextBox 5"/>
          <p:cNvSpPr txBox="1"/>
          <p:nvPr/>
        </p:nvSpPr>
        <p:spPr>
          <a:xfrm>
            <a:off x="822960" y="1965960"/>
            <a:ext cx="10515600" cy="1463040"/>
          </a:xfrm>
          <a:prstGeom prst="rect">
            <a:avLst/>
          </a:prstGeom>
          <a:noFill/>
        </p:spPr>
        <p:txBody>
          <a:bodyPr wrap="square">
            <a:spAutoFit/>
          </a:bodyPr>
          <a:lstStyle/>
          <a:p>
            <a:r>
              <a:rPr sz="3600" b="1">
                <a:solidFill>
                  <a:srgbClr val="1A1F2E"/>
                </a:solidFill>
                <a:latin typeface="Calibri"/>
              </a:rPr>
              <a:t>Parking Space Detection Using
Computer Vision and Deep Learning</a:t>
            </a:r>
          </a:p>
        </p:txBody>
      </p:sp>
      <p:sp>
        <p:nvSpPr>
          <p:cNvPr id="7" name="TextBox 6"/>
          <p:cNvSpPr txBox="1"/>
          <p:nvPr/>
        </p:nvSpPr>
        <p:spPr>
          <a:xfrm>
            <a:off x="822960" y="3657600"/>
            <a:ext cx="10515600" cy="640080"/>
          </a:xfrm>
          <a:prstGeom prst="rect">
            <a:avLst/>
          </a:prstGeom>
          <a:noFill/>
        </p:spPr>
        <p:txBody>
          <a:bodyPr wrap="square">
            <a:spAutoFit/>
          </a:bodyPr>
          <a:lstStyle/>
          <a:p>
            <a:r>
              <a:rPr sz="1800" b="0">
                <a:solidFill>
                  <a:srgbClr val="5B6475"/>
                </a:solidFill>
                <a:latin typeface="Calibri"/>
              </a:rPr>
              <a:t>How reliably can deep learning detect parking-space occupancy
across diverse real-world environments?</a:t>
            </a:r>
          </a:p>
        </p:txBody>
      </p:sp>
      <p:sp>
        <p:nvSpPr>
          <p:cNvPr id="8" name="TextBox 7"/>
          <p:cNvSpPr txBox="1"/>
          <p:nvPr/>
        </p:nvSpPr>
        <p:spPr>
          <a:xfrm>
            <a:off x="822960" y="4846320"/>
            <a:ext cx="10515600" cy="822960"/>
          </a:xfrm>
          <a:prstGeom prst="rect">
            <a:avLst/>
          </a:prstGeom>
          <a:noFill/>
        </p:spPr>
        <p:txBody>
          <a:bodyPr wrap="none">
            <a:spAutoFit/>
          </a:bodyPr>
          <a:lstStyle/>
          <a:p>
            <a:r>
              <a:rPr sz="1600" b="1">
                <a:solidFill>
                  <a:srgbClr val="1A1F2E"/>
                </a:solidFill>
                <a:latin typeface="Calibri"/>
              </a:rPr>
              <a:t>Joaquin Gimeno  ·  Fernando Jauregui  ·  Eliot Rudes</a:t>
            </a:r>
          </a:p>
          <a:p>
            <a:r>
              <a:rPr sz="1400" b="0">
                <a:solidFill>
                  <a:srgbClr val="5B6475"/>
                </a:solidFill>
                <a:latin typeface="Calibri"/>
              </a:rPr>
              <a:t>Datasets: PKLot &amp; CNRPark-EXT  ·  Models: Baseline CNN, MobileNetV3, VGG16, ResNet50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92240"/>
            <a:ext cx="9144000" cy="274320"/>
          </a:xfrm>
          <a:prstGeom prst="rect">
            <a:avLst/>
          </a:prstGeom>
          <a:noFill/>
        </p:spPr>
        <p:txBody>
          <a:bodyPr wrap="none">
            <a:spAutoFit/>
          </a:bodyPr>
          <a:lstStyle/>
          <a:p>
            <a:r>
              <a:rPr sz="1100" b="0">
                <a:solidFill>
                  <a:srgbClr val="5B6475"/>
                </a:solidFill>
                <a:latin typeface="Calibri"/>
              </a:rPr>
              <a:t>CAI2840C  ·  Parking Occupancy Detection  ·  2/11</a:t>
            </a:r>
          </a:p>
        </p:txBody>
      </p:sp>
      <p:sp>
        <p:nvSpPr>
          <p:cNvPr id="5" name="TextBox 4"/>
          <p:cNvSpPr txBox="1"/>
          <p:nvPr/>
        </p:nvSpPr>
        <p:spPr>
          <a:xfrm>
            <a:off x="10515600" y="6492240"/>
            <a:ext cx="1280160" cy="274320"/>
          </a:xfrm>
          <a:prstGeom prst="rect">
            <a:avLst/>
          </a:prstGeom>
          <a:noFill/>
        </p:spPr>
        <p:txBody>
          <a:bodyPr wrap="none">
            <a:spAutoFit/>
          </a:bodyPr>
          <a:lstStyle/>
          <a:p>
            <a:pPr algn="r"/>
            <a:r>
              <a:rPr sz="1100" b="0">
                <a:solidFill>
                  <a:srgbClr val="5B6475"/>
                </a:solidFill>
                <a:latin typeface="Calibri"/>
              </a:rPr>
              <a:t>Gimeno · Jauregui · Rudes</a:t>
            </a:r>
          </a:p>
        </p:txBody>
      </p:sp>
      <p:sp>
        <p:nvSpPr>
          <p:cNvPr id="6" name="TextBox 5"/>
          <p:cNvSpPr txBox="1"/>
          <p:nvPr/>
        </p:nvSpPr>
        <p:spPr>
          <a:xfrm>
            <a:off x="548640" y="320040"/>
            <a:ext cx="11155680" cy="640080"/>
          </a:xfrm>
          <a:prstGeom prst="rect">
            <a:avLst/>
          </a:prstGeom>
          <a:noFill/>
        </p:spPr>
        <p:txBody>
          <a:bodyPr wrap="none">
            <a:spAutoFit/>
          </a:bodyPr>
          <a:lstStyle/>
          <a:p>
            <a:r>
              <a:rPr sz="3200" b="1">
                <a:solidFill>
                  <a:srgbClr val="1A1F2E"/>
                </a:solidFill>
                <a:latin typeface="Calibri"/>
              </a:rPr>
              <a:t>Research question</a:t>
            </a:r>
          </a:p>
        </p:txBody>
      </p:sp>
      <p:sp>
        <p:nvSpPr>
          <p:cNvPr id="7" name="TextBox 6"/>
          <p:cNvSpPr txBox="1"/>
          <p:nvPr/>
        </p:nvSpPr>
        <p:spPr>
          <a:xfrm>
            <a:off x="548640" y="914400"/>
            <a:ext cx="11155680" cy="411480"/>
          </a:xfrm>
          <a:prstGeom prst="rect">
            <a:avLst/>
          </a:prstGeom>
          <a:noFill/>
        </p:spPr>
        <p:txBody>
          <a:bodyPr wrap="none">
            <a:spAutoFit/>
          </a:bodyPr>
          <a:lstStyle/>
          <a:p>
            <a:r>
              <a:rPr sz="1600" b="0">
                <a:solidFill>
                  <a:srgbClr val="5B6475"/>
                </a:solidFill>
                <a:latin typeface="Calibri"/>
              </a:rPr>
              <a:t>Why accuracy alone is not enough for smart parking</a:t>
            </a:r>
          </a:p>
        </p:txBody>
      </p:sp>
      <p:sp>
        <p:nvSpPr>
          <p:cNvPr id="8" name="Rounded Rectangle 7"/>
          <p:cNvSpPr/>
          <p:nvPr/>
        </p:nvSpPr>
        <p:spPr>
          <a:xfrm>
            <a:off x="548640" y="1463040"/>
            <a:ext cx="5486400" cy="4389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91640"/>
            <a:ext cx="5029200" cy="3931920"/>
          </a:xfrm>
          <a:prstGeom prst="rect">
            <a:avLst/>
          </a:prstGeom>
          <a:noFill/>
        </p:spPr>
        <p:txBody>
          <a:bodyPr wrap="square">
            <a:spAutoFit/>
          </a:bodyPr>
          <a:lstStyle/>
          <a:p>
            <a:pPr>
              <a:spcAft>
                <a:spcPts val="1000"/>
              </a:spcAft>
            </a:pPr>
            <a:r>
              <a:rPr sz="1700" b="0">
                <a:solidFill>
                  <a:srgbClr val="1A1F2E"/>
                </a:solidFill>
                <a:latin typeface="Calibri"/>
              </a:rPr>
              <a:t>•  Cameras can monitor many spaces at once</a:t>
            </a:r>
          </a:p>
          <a:p>
            <a:pPr>
              <a:spcAft>
                <a:spcPts val="1000"/>
              </a:spcAft>
            </a:pPr>
            <a:r>
              <a:rPr sz="1700" b="0">
                <a:solidFill>
                  <a:srgbClr val="1A1F2E"/>
                </a:solidFill>
                <a:latin typeface="Calibri"/>
              </a:rPr>
              <a:t>•  CNNs classify cropped spots; detectors locate vehicles in full scenes</a:t>
            </a:r>
          </a:p>
          <a:p>
            <a:pPr>
              <a:spcAft>
                <a:spcPts val="1000"/>
              </a:spcAft>
            </a:pPr>
            <a:r>
              <a:rPr sz="1700" b="0">
                <a:solidFill>
                  <a:srgbClr val="1A1F2E"/>
                </a:solidFill>
                <a:latin typeface="Calibri"/>
              </a:rPr>
              <a:t>•  Benchmark scores often ignore rain, glare, shadows, occlusion</a:t>
            </a:r>
          </a:p>
          <a:p>
            <a:pPr>
              <a:spcAft>
                <a:spcPts val="1000"/>
              </a:spcAft>
            </a:pPr>
            <a:r>
              <a:rPr sz="1700" b="0">
                <a:solidFill>
                  <a:srgbClr val="1A1F2E"/>
                </a:solidFill>
                <a:latin typeface="Calibri"/>
              </a:rPr>
              <a:t>•  Smart-city routing needs accuracy and speed together</a:t>
            </a:r>
          </a:p>
        </p:txBody>
      </p:sp>
      <p:sp>
        <p:nvSpPr>
          <p:cNvPr id="10" name="Rounded Rectangle 9"/>
          <p:cNvSpPr/>
          <p:nvPr/>
        </p:nvSpPr>
        <p:spPr>
          <a:xfrm>
            <a:off x="6309360" y="1463040"/>
            <a:ext cx="5303520" cy="4389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691640"/>
            <a:ext cx="4846320" cy="365760"/>
          </a:xfrm>
          <a:prstGeom prst="rect">
            <a:avLst/>
          </a:prstGeom>
          <a:noFill/>
        </p:spPr>
        <p:txBody>
          <a:bodyPr wrap="none">
            <a:spAutoFit/>
          </a:bodyPr>
          <a:lstStyle/>
          <a:p>
            <a:r>
              <a:rPr sz="1400" b="1">
                <a:solidFill>
                  <a:srgbClr val="0B6E7A"/>
                </a:solidFill>
                <a:latin typeface="Calibri"/>
              </a:rPr>
              <a:t>Central question</a:t>
            </a:r>
          </a:p>
        </p:txBody>
      </p:sp>
      <p:sp>
        <p:nvSpPr>
          <p:cNvPr id="12" name="TextBox 11"/>
          <p:cNvSpPr txBox="1"/>
          <p:nvPr/>
        </p:nvSpPr>
        <p:spPr>
          <a:xfrm>
            <a:off x="6537960" y="2103120"/>
            <a:ext cx="4846320" cy="2011680"/>
          </a:xfrm>
          <a:prstGeom prst="rect">
            <a:avLst/>
          </a:prstGeom>
          <a:noFill/>
        </p:spPr>
        <p:txBody>
          <a:bodyPr wrap="square">
            <a:spAutoFit/>
          </a:bodyPr>
          <a:lstStyle/>
          <a:p>
            <a:r>
              <a:rPr sz="1600" b="0">
                <a:solidFill>
                  <a:srgbClr val="1A1F2E"/>
                </a:solidFill>
                <a:latin typeface="Calibri"/>
              </a:rPr>
              <a:t>How reliably can deep learning–based computer vision detect parking-space occupancy across diverse real-world environments—and what do failures imply for future system design?</a:t>
            </a:r>
          </a:p>
        </p:txBody>
      </p:sp>
      <p:sp>
        <p:nvSpPr>
          <p:cNvPr id="13" name="TextBox 12"/>
          <p:cNvSpPr txBox="1"/>
          <p:nvPr/>
        </p:nvSpPr>
        <p:spPr>
          <a:xfrm>
            <a:off x="6537960" y="4297680"/>
            <a:ext cx="4846320" cy="1188720"/>
          </a:xfrm>
          <a:prstGeom prst="rect">
            <a:avLst/>
          </a:prstGeom>
          <a:noFill/>
        </p:spPr>
        <p:txBody>
          <a:bodyPr wrap="square">
            <a:spAutoFit/>
          </a:bodyPr>
          <a:lstStyle/>
          <a:p>
            <a:r>
              <a:rPr sz="1300" b="1">
                <a:solidFill>
                  <a:srgbClr val="0B6E7A"/>
                </a:solidFill>
                <a:latin typeface="Calibri"/>
              </a:rPr>
              <a:t>Sub-questions</a:t>
            </a:r>
          </a:p>
          <a:p>
            <a:r>
              <a:rPr sz="1400" b="0">
                <a:solidFill>
                  <a:srgbClr val="5B6475"/>
                </a:solidFill>
                <a:latin typeface="Calibri"/>
              </a:rPr>
              <a:t>• Condition robustness  ·  Cross-dataset generalization
• Failure patterns → sensor fusion  ·  Accuracy–speed trade-off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92240"/>
            <a:ext cx="9144000" cy="274320"/>
          </a:xfrm>
          <a:prstGeom prst="rect">
            <a:avLst/>
          </a:prstGeom>
          <a:noFill/>
        </p:spPr>
        <p:txBody>
          <a:bodyPr wrap="none">
            <a:spAutoFit/>
          </a:bodyPr>
          <a:lstStyle/>
          <a:p>
            <a:r>
              <a:rPr sz="1100" b="0">
                <a:solidFill>
                  <a:srgbClr val="5B6475"/>
                </a:solidFill>
                <a:latin typeface="Calibri"/>
              </a:rPr>
              <a:t>CAI2840C  ·  Parking Occupancy Detection  ·  3/11</a:t>
            </a:r>
          </a:p>
        </p:txBody>
      </p:sp>
      <p:sp>
        <p:nvSpPr>
          <p:cNvPr id="5" name="TextBox 4"/>
          <p:cNvSpPr txBox="1"/>
          <p:nvPr/>
        </p:nvSpPr>
        <p:spPr>
          <a:xfrm>
            <a:off x="10515600" y="6492240"/>
            <a:ext cx="1280160" cy="274320"/>
          </a:xfrm>
          <a:prstGeom prst="rect">
            <a:avLst/>
          </a:prstGeom>
          <a:noFill/>
        </p:spPr>
        <p:txBody>
          <a:bodyPr wrap="none">
            <a:spAutoFit/>
          </a:bodyPr>
          <a:lstStyle/>
          <a:p>
            <a:pPr algn="r"/>
            <a:r>
              <a:rPr sz="1100" b="0">
                <a:solidFill>
                  <a:srgbClr val="5B6475"/>
                </a:solidFill>
                <a:latin typeface="Calibri"/>
              </a:rPr>
              <a:t>Gimeno · Jauregui · Rudes</a:t>
            </a:r>
          </a:p>
        </p:txBody>
      </p:sp>
      <p:sp>
        <p:nvSpPr>
          <p:cNvPr id="6" name="TextBox 5"/>
          <p:cNvSpPr txBox="1"/>
          <p:nvPr/>
        </p:nvSpPr>
        <p:spPr>
          <a:xfrm>
            <a:off x="548640" y="320040"/>
            <a:ext cx="11155680" cy="640080"/>
          </a:xfrm>
          <a:prstGeom prst="rect">
            <a:avLst/>
          </a:prstGeom>
          <a:noFill/>
        </p:spPr>
        <p:txBody>
          <a:bodyPr wrap="none">
            <a:spAutoFit/>
          </a:bodyPr>
          <a:lstStyle/>
          <a:p>
            <a:r>
              <a:rPr sz="3200" b="1">
                <a:solidFill>
                  <a:srgbClr val="1A1F2E"/>
                </a:solidFill>
                <a:latin typeface="Calibri"/>
              </a:rPr>
              <a:t>Contribution to the literature</a:t>
            </a:r>
          </a:p>
        </p:txBody>
      </p:sp>
      <p:sp>
        <p:nvSpPr>
          <p:cNvPr id="7" name="TextBox 6"/>
          <p:cNvSpPr txBox="1"/>
          <p:nvPr/>
        </p:nvSpPr>
        <p:spPr>
          <a:xfrm>
            <a:off x="548640" y="914400"/>
            <a:ext cx="11155680" cy="411480"/>
          </a:xfrm>
          <a:prstGeom prst="rect">
            <a:avLst/>
          </a:prstGeom>
          <a:noFill/>
        </p:spPr>
        <p:txBody>
          <a:bodyPr wrap="none">
            <a:spAutoFit/>
          </a:bodyPr>
          <a:lstStyle/>
          <a:p>
            <a:r>
              <a:rPr sz="1600" b="0">
                <a:solidFill>
                  <a:srgbClr val="5B6475"/>
                </a:solidFill>
                <a:latin typeface="Calibri"/>
              </a:rPr>
              <a:t>Three gaps we address with one comparative experiment</a:t>
            </a:r>
          </a:p>
        </p:txBody>
      </p:sp>
      <p:sp>
        <p:nvSpPr>
          <p:cNvPr id="8" name="Rounded Rectangle 7"/>
          <p:cNvSpPr/>
          <p:nvPr/>
        </p:nvSpPr>
        <p:spPr>
          <a:xfrm>
            <a:off x="548640" y="1417320"/>
            <a:ext cx="11064240" cy="128016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45920"/>
            <a:ext cx="10424160" cy="320040"/>
          </a:xfrm>
          <a:prstGeom prst="rect">
            <a:avLst/>
          </a:prstGeom>
          <a:noFill/>
        </p:spPr>
        <p:txBody>
          <a:bodyPr wrap="none">
            <a:spAutoFit/>
          </a:bodyPr>
          <a:lstStyle/>
          <a:p>
            <a:r>
              <a:rPr sz="1800" b="1">
                <a:solidFill>
                  <a:srgbClr val="0B6E7A"/>
                </a:solidFill>
                <a:latin typeface="Calibri"/>
              </a:rPr>
              <a:t>1  Environmental reliability</a:t>
            </a:r>
          </a:p>
        </p:txBody>
      </p:sp>
      <p:sp>
        <p:nvSpPr>
          <p:cNvPr id="10" name="TextBox 9"/>
          <p:cNvSpPr txBox="1"/>
          <p:nvPr/>
        </p:nvSpPr>
        <p:spPr>
          <a:xfrm>
            <a:off x="868680" y="2011680"/>
            <a:ext cx="10424160" cy="502920"/>
          </a:xfrm>
          <a:prstGeom prst="rect">
            <a:avLst/>
          </a:prstGeom>
          <a:noFill/>
        </p:spPr>
        <p:txBody>
          <a:bodyPr wrap="square">
            <a:spAutoFit/>
          </a:bodyPr>
          <a:lstStyle/>
          <a:p>
            <a:r>
              <a:rPr sz="1600" b="0">
                <a:solidFill>
                  <a:srgbClr val="1A1F2E"/>
                </a:solidFill>
                <a:latin typeface="Calibri"/>
              </a:rPr>
              <a:t>Few studies systematically stress-test models under rain, glare, shadows, and low light.</a:t>
            </a:r>
          </a:p>
        </p:txBody>
      </p:sp>
      <p:sp>
        <p:nvSpPr>
          <p:cNvPr id="11" name="Rounded Rectangle 10"/>
          <p:cNvSpPr/>
          <p:nvPr/>
        </p:nvSpPr>
        <p:spPr>
          <a:xfrm>
            <a:off x="548640" y="2880360"/>
            <a:ext cx="11064240" cy="128016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108960"/>
            <a:ext cx="10424160" cy="320040"/>
          </a:xfrm>
          <a:prstGeom prst="rect">
            <a:avLst/>
          </a:prstGeom>
          <a:noFill/>
        </p:spPr>
        <p:txBody>
          <a:bodyPr wrap="none">
            <a:spAutoFit/>
          </a:bodyPr>
          <a:lstStyle/>
          <a:p>
            <a:r>
              <a:rPr sz="1800" b="1">
                <a:solidFill>
                  <a:srgbClr val="0B6E7A"/>
                </a:solidFill>
                <a:latin typeface="Calibri"/>
              </a:rPr>
              <a:t>2  Cross-dataset generalization</a:t>
            </a:r>
          </a:p>
        </p:txBody>
      </p:sp>
      <p:sp>
        <p:nvSpPr>
          <p:cNvPr id="13" name="TextBox 12"/>
          <p:cNvSpPr txBox="1"/>
          <p:nvPr/>
        </p:nvSpPr>
        <p:spPr>
          <a:xfrm>
            <a:off x="868680" y="3474720"/>
            <a:ext cx="10424160" cy="502920"/>
          </a:xfrm>
          <a:prstGeom prst="rect">
            <a:avLst/>
          </a:prstGeom>
          <a:noFill/>
        </p:spPr>
        <p:txBody>
          <a:bodyPr wrap="square">
            <a:spAutoFit/>
          </a:bodyPr>
          <a:lstStyle/>
          <a:p>
            <a:r>
              <a:rPr sz="1600" b="0">
                <a:solidFill>
                  <a:srgbClr val="1A1F2E"/>
                </a:solidFill>
                <a:latin typeface="Calibri"/>
              </a:rPr>
              <a:t>Models trained on one parking layout often fail on another (PKLot ↔ CNRPark-EXT).</a:t>
            </a:r>
          </a:p>
        </p:txBody>
      </p:sp>
      <p:sp>
        <p:nvSpPr>
          <p:cNvPr id="14" name="Rounded Rectangle 13"/>
          <p:cNvSpPr/>
          <p:nvPr/>
        </p:nvSpPr>
        <p:spPr>
          <a:xfrm>
            <a:off x="548640" y="4343400"/>
            <a:ext cx="11064240" cy="128016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572000"/>
            <a:ext cx="10424160" cy="320040"/>
          </a:xfrm>
          <a:prstGeom prst="rect">
            <a:avLst/>
          </a:prstGeom>
          <a:noFill/>
        </p:spPr>
        <p:txBody>
          <a:bodyPr wrap="none">
            <a:spAutoFit/>
          </a:bodyPr>
          <a:lstStyle/>
          <a:p>
            <a:r>
              <a:rPr sz="1800" b="1">
                <a:solidFill>
                  <a:srgbClr val="0B6E7A"/>
                </a:solidFill>
                <a:latin typeface="Calibri"/>
              </a:rPr>
              <a:t>3  Limits of vision-only systems</a:t>
            </a:r>
          </a:p>
        </p:txBody>
      </p:sp>
      <p:sp>
        <p:nvSpPr>
          <p:cNvPr id="16" name="TextBox 15"/>
          <p:cNvSpPr txBox="1"/>
          <p:nvPr/>
        </p:nvSpPr>
        <p:spPr>
          <a:xfrm>
            <a:off x="868680" y="4937760"/>
            <a:ext cx="10424160" cy="502920"/>
          </a:xfrm>
          <a:prstGeom prst="rect">
            <a:avLst/>
          </a:prstGeom>
          <a:noFill/>
        </p:spPr>
        <p:txBody>
          <a:bodyPr wrap="square">
            <a:spAutoFit/>
          </a:bodyPr>
          <a:lstStyle/>
          <a:p>
            <a:r>
              <a:rPr sz="1600" b="0">
                <a:solidFill>
                  <a:srgbClr val="1A1F2E"/>
                </a:solidFill>
                <a:latin typeface="Calibri"/>
              </a:rPr>
              <a:t>Failure analysis reveals when cameras need radar / ultrasonic / IoT fusion.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92240"/>
            <a:ext cx="9144000" cy="274320"/>
          </a:xfrm>
          <a:prstGeom prst="rect">
            <a:avLst/>
          </a:prstGeom>
          <a:noFill/>
        </p:spPr>
        <p:txBody>
          <a:bodyPr wrap="none">
            <a:spAutoFit/>
          </a:bodyPr>
          <a:lstStyle/>
          <a:p>
            <a:r>
              <a:rPr sz="1100" b="0">
                <a:solidFill>
                  <a:srgbClr val="5B6475"/>
                </a:solidFill>
                <a:latin typeface="Calibri"/>
              </a:rPr>
              <a:t>CAI2840C  ·  Parking Occupancy Detection  ·  4/11</a:t>
            </a:r>
          </a:p>
        </p:txBody>
      </p:sp>
      <p:sp>
        <p:nvSpPr>
          <p:cNvPr id="5" name="TextBox 4"/>
          <p:cNvSpPr txBox="1"/>
          <p:nvPr/>
        </p:nvSpPr>
        <p:spPr>
          <a:xfrm>
            <a:off x="10515600" y="6492240"/>
            <a:ext cx="1280160" cy="274320"/>
          </a:xfrm>
          <a:prstGeom prst="rect">
            <a:avLst/>
          </a:prstGeom>
          <a:noFill/>
        </p:spPr>
        <p:txBody>
          <a:bodyPr wrap="none">
            <a:spAutoFit/>
          </a:bodyPr>
          <a:lstStyle/>
          <a:p>
            <a:pPr algn="r"/>
            <a:r>
              <a:rPr sz="1100" b="0">
                <a:solidFill>
                  <a:srgbClr val="5B6475"/>
                </a:solidFill>
                <a:latin typeface="Calibri"/>
              </a:rPr>
              <a:t>Gimeno · Jauregui · Rudes</a:t>
            </a:r>
          </a:p>
        </p:txBody>
      </p:sp>
      <p:sp>
        <p:nvSpPr>
          <p:cNvPr id="6" name="TextBox 5"/>
          <p:cNvSpPr txBox="1"/>
          <p:nvPr/>
        </p:nvSpPr>
        <p:spPr>
          <a:xfrm>
            <a:off x="548640" y="320040"/>
            <a:ext cx="11155680" cy="640080"/>
          </a:xfrm>
          <a:prstGeom prst="rect">
            <a:avLst/>
          </a:prstGeom>
          <a:noFill/>
        </p:spPr>
        <p:txBody>
          <a:bodyPr wrap="none">
            <a:spAutoFit/>
          </a:bodyPr>
          <a:lstStyle/>
          <a:p>
            <a:r>
              <a:rPr sz="3200" b="1">
                <a:solidFill>
                  <a:srgbClr val="1A1F2E"/>
                </a:solidFill>
                <a:latin typeface="Calibri"/>
              </a:rPr>
              <a:t>Data</a:t>
            </a:r>
          </a:p>
        </p:txBody>
      </p:sp>
      <p:sp>
        <p:nvSpPr>
          <p:cNvPr id="7" name="TextBox 6"/>
          <p:cNvSpPr txBox="1"/>
          <p:nvPr/>
        </p:nvSpPr>
        <p:spPr>
          <a:xfrm>
            <a:off x="548640" y="914400"/>
            <a:ext cx="11155680" cy="411480"/>
          </a:xfrm>
          <a:prstGeom prst="rect">
            <a:avLst/>
          </a:prstGeom>
          <a:noFill/>
        </p:spPr>
        <p:txBody>
          <a:bodyPr wrap="none">
            <a:spAutoFit/>
          </a:bodyPr>
          <a:lstStyle/>
          <a:p>
            <a:r>
              <a:rPr sz="1600" b="0">
                <a:solidFill>
                  <a:srgbClr val="5B6475"/>
                </a:solidFill>
                <a:latin typeface="Calibri"/>
              </a:rPr>
              <a:t>Two public datasets chosen for weather and scene diversity</a:t>
            </a:r>
          </a:p>
        </p:txBody>
      </p:sp>
      <p:sp>
        <p:nvSpPr>
          <p:cNvPr id="8" name="Rounded Rectangle 7"/>
          <p:cNvSpPr/>
          <p:nvPr/>
        </p:nvSpPr>
        <p:spPr>
          <a:xfrm>
            <a:off x="548640" y="1417320"/>
            <a:ext cx="5394960" cy="429768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45920"/>
            <a:ext cx="4846320" cy="365760"/>
          </a:xfrm>
          <a:prstGeom prst="rect">
            <a:avLst/>
          </a:prstGeom>
          <a:noFill/>
        </p:spPr>
        <p:txBody>
          <a:bodyPr wrap="none">
            <a:spAutoFit/>
          </a:bodyPr>
          <a:lstStyle/>
          <a:p>
            <a:r>
              <a:rPr sz="2200" b="1">
                <a:solidFill>
                  <a:srgbClr val="0B6E7A"/>
                </a:solidFill>
                <a:latin typeface="Calibri"/>
              </a:rPr>
              <a:t>PKLot</a:t>
            </a:r>
          </a:p>
        </p:txBody>
      </p:sp>
      <p:sp>
        <p:nvSpPr>
          <p:cNvPr id="10" name="TextBox 9"/>
          <p:cNvSpPr txBox="1"/>
          <p:nvPr/>
        </p:nvSpPr>
        <p:spPr>
          <a:xfrm>
            <a:off x="822960" y="2148840"/>
            <a:ext cx="4846320" cy="3200400"/>
          </a:xfrm>
          <a:prstGeom prst="rect">
            <a:avLst/>
          </a:prstGeom>
          <a:noFill/>
        </p:spPr>
        <p:txBody>
          <a:bodyPr wrap="square">
            <a:spAutoFit/>
          </a:bodyPr>
          <a:lstStyle/>
          <a:p>
            <a:pPr>
              <a:spcAft>
                <a:spcPts val="1000"/>
              </a:spcAft>
            </a:pPr>
            <a:r>
              <a:rPr sz="1600" b="0">
                <a:solidFill>
                  <a:srgbClr val="1A1F2E"/>
                </a:solidFill>
                <a:latin typeface="Calibri"/>
              </a:rPr>
              <a:t>•  Segmented parking-space patches</a:t>
            </a:r>
          </a:p>
          <a:p>
            <a:pPr>
              <a:spcAft>
                <a:spcPts val="1000"/>
              </a:spcAft>
            </a:pPr>
            <a:r>
              <a:rPr sz="1600" b="0">
                <a:solidFill>
                  <a:srgbClr val="1A1F2E"/>
                </a:solidFill>
                <a:latin typeface="Calibri"/>
              </a:rPr>
              <a:t>•  Multiple lots: PUC, UFPR04, UFPR05</a:t>
            </a:r>
          </a:p>
          <a:p>
            <a:pPr>
              <a:spcAft>
                <a:spcPts val="1000"/>
              </a:spcAft>
            </a:pPr>
            <a:r>
              <a:rPr sz="1600" b="0">
                <a:solidFill>
                  <a:srgbClr val="1A1F2E"/>
                </a:solidFill>
                <a:latin typeface="Calibri"/>
              </a:rPr>
              <a:t>•  Labeled weather: Sunny, Cloudy, Rainy</a:t>
            </a:r>
          </a:p>
          <a:p>
            <a:pPr>
              <a:spcAft>
                <a:spcPts val="1000"/>
              </a:spcAft>
            </a:pPr>
            <a:r>
              <a:rPr sz="1600" b="0">
                <a:solidFill>
                  <a:srgbClr val="1A1F2E"/>
                </a:solidFill>
                <a:latin typeface="Calibri"/>
              </a:rPr>
              <a:t>•  Supports condition-level evaluation</a:t>
            </a:r>
          </a:p>
        </p:txBody>
      </p:sp>
      <p:sp>
        <p:nvSpPr>
          <p:cNvPr id="11" name="Rounded Rectangle 10"/>
          <p:cNvSpPr/>
          <p:nvPr/>
        </p:nvSpPr>
        <p:spPr>
          <a:xfrm>
            <a:off x="6217920" y="1417320"/>
            <a:ext cx="5394960" cy="429768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645920"/>
            <a:ext cx="4846320" cy="365760"/>
          </a:xfrm>
          <a:prstGeom prst="rect">
            <a:avLst/>
          </a:prstGeom>
          <a:noFill/>
        </p:spPr>
        <p:txBody>
          <a:bodyPr wrap="none">
            <a:spAutoFit/>
          </a:bodyPr>
          <a:lstStyle/>
          <a:p>
            <a:r>
              <a:rPr sz="2200" b="1">
                <a:solidFill>
                  <a:srgbClr val="0B6E7A"/>
                </a:solidFill>
                <a:latin typeface="Calibri"/>
              </a:rPr>
              <a:t>CNRPark-EXT</a:t>
            </a:r>
          </a:p>
        </p:txBody>
      </p:sp>
      <p:sp>
        <p:nvSpPr>
          <p:cNvPr id="13" name="TextBox 12"/>
          <p:cNvSpPr txBox="1"/>
          <p:nvPr/>
        </p:nvSpPr>
        <p:spPr>
          <a:xfrm>
            <a:off x="6492240" y="2148840"/>
            <a:ext cx="4846320" cy="3200400"/>
          </a:xfrm>
          <a:prstGeom prst="rect">
            <a:avLst/>
          </a:prstGeom>
          <a:noFill/>
        </p:spPr>
        <p:txBody>
          <a:bodyPr wrap="square">
            <a:spAutoFit/>
          </a:bodyPr>
          <a:lstStyle/>
          <a:p>
            <a:pPr>
              <a:spcAft>
                <a:spcPts val="1000"/>
              </a:spcAft>
            </a:pPr>
            <a:r>
              <a:rPr sz="1600" b="0">
                <a:solidFill>
                  <a:srgbClr val="1A1F2E"/>
                </a:solidFill>
                <a:latin typeface="Calibri"/>
              </a:rPr>
              <a:t>•  Real camera scenes → free / busy patches</a:t>
            </a:r>
          </a:p>
          <a:p>
            <a:pPr>
              <a:spcAft>
                <a:spcPts val="1000"/>
              </a:spcAft>
            </a:pPr>
            <a:r>
              <a:rPr sz="1600" b="0">
                <a:solidFill>
                  <a:srgbClr val="1A1F2E"/>
                </a:solidFill>
                <a:latin typeface="Calibri"/>
              </a:rPr>
              <a:t>•  Different viewpoint and lot design</a:t>
            </a:r>
          </a:p>
          <a:p>
            <a:pPr>
              <a:spcAft>
                <a:spcPts val="1000"/>
              </a:spcAft>
            </a:pPr>
            <a:r>
              <a:rPr sz="1600" b="0">
                <a:solidFill>
                  <a:srgbClr val="1A1F2E"/>
                </a:solidFill>
                <a:latin typeface="Calibri"/>
              </a:rPr>
              <a:t>•  Tests cross-dataset generalization (H2)</a:t>
            </a:r>
          </a:p>
          <a:p>
            <a:pPr>
              <a:spcAft>
                <a:spcPts val="1000"/>
              </a:spcAft>
            </a:pPr>
            <a:r>
              <a:rPr sz="1600" b="0">
                <a:solidFill>
                  <a:srgbClr val="1A1F2E"/>
                </a:solidFill>
                <a:latin typeface="Calibri"/>
              </a:rPr>
              <a:t>•  Inventory records scene, camera, weather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92240"/>
            <a:ext cx="9144000" cy="274320"/>
          </a:xfrm>
          <a:prstGeom prst="rect">
            <a:avLst/>
          </a:prstGeom>
          <a:noFill/>
        </p:spPr>
        <p:txBody>
          <a:bodyPr wrap="none">
            <a:spAutoFit/>
          </a:bodyPr>
          <a:lstStyle/>
          <a:p>
            <a:r>
              <a:rPr sz="1100" b="0">
                <a:solidFill>
                  <a:srgbClr val="5B6475"/>
                </a:solidFill>
                <a:latin typeface="Calibri"/>
              </a:rPr>
              <a:t>CAI2840C  ·  Parking Occupancy Detection  ·  5/11</a:t>
            </a:r>
          </a:p>
        </p:txBody>
      </p:sp>
      <p:sp>
        <p:nvSpPr>
          <p:cNvPr id="5" name="TextBox 4"/>
          <p:cNvSpPr txBox="1"/>
          <p:nvPr/>
        </p:nvSpPr>
        <p:spPr>
          <a:xfrm>
            <a:off x="10515600" y="6492240"/>
            <a:ext cx="1280160" cy="274320"/>
          </a:xfrm>
          <a:prstGeom prst="rect">
            <a:avLst/>
          </a:prstGeom>
          <a:noFill/>
        </p:spPr>
        <p:txBody>
          <a:bodyPr wrap="none">
            <a:spAutoFit/>
          </a:bodyPr>
          <a:lstStyle/>
          <a:p>
            <a:pPr algn="r"/>
            <a:r>
              <a:rPr sz="1100" b="0">
                <a:solidFill>
                  <a:srgbClr val="5B6475"/>
                </a:solidFill>
                <a:latin typeface="Calibri"/>
              </a:rPr>
              <a:t>Gimeno · Jauregui · Rudes</a:t>
            </a:r>
          </a:p>
        </p:txBody>
      </p:sp>
      <p:sp>
        <p:nvSpPr>
          <p:cNvPr id="6" name="TextBox 5"/>
          <p:cNvSpPr txBox="1"/>
          <p:nvPr/>
        </p:nvSpPr>
        <p:spPr>
          <a:xfrm>
            <a:off x="548640" y="320040"/>
            <a:ext cx="11155680" cy="640080"/>
          </a:xfrm>
          <a:prstGeom prst="rect">
            <a:avLst/>
          </a:prstGeom>
          <a:noFill/>
        </p:spPr>
        <p:txBody>
          <a:bodyPr wrap="none">
            <a:spAutoFit/>
          </a:bodyPr>
          <a:lstStyle/>
          <a:p>
            <a:r>
              <a:rPr sz="3200" b="1">
                <a:solidFill>
                  <a:srgbClr val="1A1F2E"/>
                </a:solidFill>
                <a:latin typeface="Calibri"/>
              </a:rPr>
              <a:t>Methods</a:t>
            </a:r>
          </a:p>
        </p:txBody>
      </p:sp>
      <p:sp>
        <p:nvSpPr>
          <p:cNvPr id="7" name="TextBox 6"/>
          <p:cNvSpPr txBox="1"/>
          <p:nvPr/>
        </p:nvSpPr>
        <p:spPr>
          <a:xfrm>
            <a:off x="548640" y="914400"/>
            <a:ext cx="11155680" cy="411480"/>
          </a:xfrm>
          <a:prstGeom prst="rect">
            <a:avLst/>
          </a:prstGeom>
          <a:noFill/>
        </p:spPr>
        <p:txBody>
          <a:bodyPr wrap="none">
            <a:spAutoFit/>
          </a:bodyPr>
          <a:lstStyle/>
          <a:p>
            <a:r>
              <a:rPr sz="1600" b="0">
                <a:solidFill>
                  <a:srgbClr val="5B6475"/>
                </a:solidFill>
                <a:latin typeface="Calibri"/>
              </a:rPr>
              <a:t>Same split, same metrics — fair comparison</a:t>
            </a:r>
          </a:p>
        </p:txBody>
      </p:sp>
      <p:sp>
        <p:nvSpPr>
          <p:cNvPr id="8" name="Rounded Rectangle 7"/>
          <p:cNvSpPr/>
          <p:nvPr/>
        </p:nvSpPr>
        <p:spPr>
          <a:xfrm>
            <a:off x="548640" y="1417320"/>
            <a:ext cx="2743200" cy="2103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2377440" cy="411480"/>
          </a:xfrm>
          <a:prstGeom prst="rect">
            <a:avLst/>
          </a:prstGeom>
          <a:noFill/>
        </p:spPr>
        <p:txBody>
          <a:bodyPr wrap="none">
            <a:spAutoFit/>
          </a:bodyPr>
          <a:lstStyle/>
          <a:p>
            <a:r>
              <a:rPr sz="1600" b="1">
                <a:solidFill>
                  <a:srgbClr val="0B6E7A"/>
                </a:solidFill>
                <a:latin typeface="Calibri"/>
              </a:rPr>
              <a:t>Baseline CNN</a:t>
            </a:r>
          </a:p>
        </p:txBody>
      </p:sp>
      <p:sp>
        <p:nvSpPr>
          <p:cNvPr id="10" name="TextBox 9"/>
          <p:cNvSpPr txBox="1"/>
          <p:nvPr/>
        </p:nvSpPr>
        <p:spPr>
          <a:xfrm>
            <a:off x="731520" y="2148840"/>
            <a:ext cx="2377440" cy="1097280"/>
          </a:xfrm>
          <a:prstGeom prst="rect">
            <a:avLst/>
          </a:prstGeom>
          <a:noFill/>
        </p:spPr>
        <p:txBody>
          <a:bodyPr wrap="square">
            <a:spAutoFit/>
          </a:bodyPr>
          <a:lstStyle/>
          <a:p>
            <a:r>
              <a:rPr sz="1400" b="0">
                <a:solidFill>
                  <a:srgbClr val="1A1F2E"/>
                </a:solidFill>
                <a:latin typeface="Calibri"/>
              </a:rPr>
              <a:t>Simple 3-layer CNN
from scratch</a:t>
            </a:r>
          </a:p>
        </p:txBody>
      </p:sp>
      <p:sp>
        <p:nvSpPr>
          <p:cNvPr id="11" name="Rounded Rectangle 10"/>
          <p:cNvSpPr/>
          <p:nvPr/>
        </p:nvSpPr>
        <p:spPr>
          <a:xfrm>
            <a:off x="3429000" y="1417320"/>
            <a:ext cx="2743200" cy="2103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645920"/>
            <a:ext cx="2377440" cy="411480"/>
          </a:xfrm>
          <a:prstGeom prst="rect">
            <a:avLst/>
          </a:prstGeom>
          <a:noFill/>
        </p:spPr>
        <p:txBody>
          <a:bodyPr wrap="none">
            <a:spAutoFit/>
          </a:bodyPr>
          <a:lstStyle/>
          <a:p>
            <a:r>
              <a:rPr sz="1600" b="1">
                <a:solidFill>
                  <a:srgbClr val="0B6E7A"/>
                </a:solidFill>
                <a:latin typeface="Calibri"/>
              </a:rPr>
              <a:t>MobileNetV3</a:t>
            </a:r>
          </a:p>
        </p:txBody>
      </p:sp>
      <p:sp>
        <p:nvSpPr>
          <p:cNvPr id="13" name="TextBox 12"/>
          <p:cNvSpPr txBox="1"/>
          <p:nvPr/>
        </p:nvSpPr>
        <p:spPr>
          <a:xfrm>
            <a:off x="3611880" y="2148840"/>
            <a:ext cx="2377440" cy="1097280"/>
          </a:xfrm>
          <a:prstGeom prst="rect">
            <a:avLst/>
          </a:prstGeom>
          <a:noFill/>
        </p:spPr>
        <p:txBody>
          <a:bodyPr wrap="square">
            <a:spAutoFit/>
          </a:bodyPr>
          <a:lstStyle/>
          <a:p>
            <a:r>
              <a:rPr sz="1400" b="0">
                <a:solidFill>
                  <a:srgbClr val="1A1F2E"/>
                </a:solidFill>
                <a:latin typeface="Calibri"/>
              </a:rPr>
              <a:t>Transfer learning
ImageNet backbone</a:t>
            </a:r>
          </a:p>
        </p:txBody>
      </p:sp>
      <p:sp>
        <p:nvSpPr>
          <p:cNvPr id="14" name="Rounded Rectangle 13"/>
          <p:cNvSpPr/>
          <p:nvPr/>
        </p:nvSpPr>
        <p:spPr>
          <a:xfrm>
            <a:off x="6309359" y="1417320"/>
            <a:ext cx="2743200" cy="2103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39" y="1645920"/>
            <a:ext cx="2377440" cy="411480"/>
          </a:xfrm>
          <a:prstGeom prst="rect">
            <a:avLst/>
          </a:prstGeom>
          <a:noFill/>
        </p:spPr>
        <p:txBody>
          <a:bodyPr wrap="none">
            <a:spAutoFit/>
          </a:bodyPr>
          <a:lstStyle/>
          <a:p>
            <a:r>
              <a:rPr sz="1600" b="1">
                <a:solidFill>
                  <a:srgbClr val="0B6E7A"/>
                </a:solidFill>
                <a:latin typeface="Calibri"/>
              </a:rPr>
              <a:t>VGG16</a:t>
            </a:r>
          </a:p>
        </p:txBody>
      </p:sp>
      <p:sp>
        <p:nvSpPr>
          <p:cNvPr id="16" name="TextBox 15"/>
          <p:cNvSpPr txBox="1"/>
          <p:nvPr/>
        </p:nvSpPr>
        <p:spPr>
          <a:xfrm>
            <a:off x="6492239" y="2148840"/>
            <a:ext cx="2377440" cy="1097280"/>
          </a:xfrm>
          <a:prstGeom prst="rect">
            <a:avLst/>
          </a:prstGeom>
          <a:noFill/>
        </p:spPr>
        <p:txBody>
          <a:bodyPr wrap="square">
            <a:spAutoFit/>
          </a:bodyPr>
          <a:lstStyle/>
          <a:p>
            <a:r>
              <a:rPr sz="1400" b="0">
                <a:solidFill>
                  <a:srgbClr val="1A1F2E"/>
                </a:solidFill>
                <a:latin typeface="Calibri"/>
              </a:rPr>
              <a:t>Transfer learning
ImageNet backbone</a:t>
            </a:r>
          </a:p>
        </p:txBody>
      </p:sp>
      <p:sp>
        <p:nvSpPr>
          <p:cNvPr id="17" name="Rounded Rectangle 16"/>
          <p:cNvSpPr/>
          <p:nvPr/>
        </p:nvSpPr>
        <p:spPr>
          <a:xfrm>
            <a:off x="9189719" y="1417320"/>
            <a:ext cx="2743200" cy="2103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72599" y="1645920"/>
            <a:ext cx="2377440" cy="411480"/>
          </a:xfrm>
          <a:prstGeom prst="rect">
            <a:avLst/>
          </a:prstGeom>
          <a:noFill/>
        </p:spPr>
        <p:txBody>
          <a:bodyPr wrap="none">
            <a:spAutoFit/>
          </a:bodyPr>
          <a:lstStyle/>
          <a:p>
            <a:r>
              <a:rPr sz="1600" b="1">
                <a:solidFill>
                  <a:srgbClr val="0B6E7A"/>
                </a:solidFill>
                <a:latin typeface="Calibri"/>
              </a:rPr>
              <a:t>ResNet50</a:t>
            </a:r>
          </a:p>
        </p:txBody>
      </p:sp>
      <p:sp>
        <p:nvSpPr>
          <p:cNvPr id="19" name="TextBox 18"/>
          <p:cNvSpPr txBox="1"/>
          <p:nvPr/>
        </p:nvSpPr>
        <p:spPr>
          <a:xfrm>
            <a:off x="9372599" y="2148840"/>
            <a:ext cx="2377440" cy="1097280"/>
          </a:xfrm>
          <a:prstGeom prst="rect">
            <a:avLst/>
          </a:prstGeom>
          <a:noFill/>
        </p:spPr>
        <p:txBody>
          <a:bodyPr wrap="square">
            <a:spAutoFit/>
          </a:bodyPr>
          <a:lstStyle/>
          <a:p>
            <a:r>
              <a:rPr sz="1400" b="0">
                <a:solidFill>
                  <a:srgbClr val="1A1F2E"/>
                </a:solidFill>
                <a:latin typeface="Calibri"/>
              </a:rPr>
              <a:t>Transfer learning
ImageNet backbone</a:t>
            </a:r>
          </a:p>
        </p:txBody>
      </p:sp>
      <p:sp>
        <p:nvSpPr>
          <p:cNvPr id="20" name="Rounded Rectangle 19"/>
          <p:cNvSpPr/>
          <p:nvPr/>
        </p:nvSpPr>
        <p:spPr>
          <a:xfrm>
            <a:off x="548640" y="3749039"/>
            <a:ext cx="11064240" cy="2103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931920"/>
            <a:ext cx="10515600" cy="1828800"/>
          </a:xfrm>
          <a:prstGeom prst="rect">
            <a:avLst/>
          </a:prstGeom>
          <a:noFill/>
        </p:spPr>
        <p:txBody>
          <a:bodyPr wrap="square">
            <a:spAutoFit/>
          </a:bodyPr>
          <a:lstStyle/>
          <a:p>
            <a:pPr>
              <a:spcAft>
                <a:spcPts val="1000"/>
              </a:spcAft>
            </a:pPr>
            <a:r>
              <a:rPr sz="1500" b="0">
                <a:solidFill>
                  <a:srgbClr val="1A1F2E"/>
                </a:solidFill>
                <a:latin typeface="Calibri"/>
              </a:rPr>
              <a:t>•  Train-only augmentation: brightness, small rotation, shifts, horizontal flip</a:t>
            </a:r>
          </a:p>
          <a:p>
            <a:pPr>
              <a:spcAft>
                <a:spcPts val="1000"/>
              </a:spcAft>
            </a:pPr>
            <a:r>
              <a:rPr sz="1500" b="0">
                <a:solidFill>
                  <a:srgbClr val="1A1F2E"/>
                </a:solidFill>
                <a:latin typeface="Calibri"/>
              </a:rPr>
              <a:t>•  Resize 224×224 · Adam · early stopping · best validation checkpoint</a:t>
            </a:r>
          </a:p>
          <a:p>
            <a:pPr>
              <a:spcAft>
                <a:spcPts val="1000"/>
              </a:spcAft>
            </a:pPr>
            <a:r>
              <a:rPr sz="1500" b="0">
                <a:solidFill>
                  <a:srgbClr val="1A1F2E"/>
                </a:solidFill>
                <a:latin typeface="Calibri"/>
              </a:rPr>
              <a:t>•  Metrics: accuracy, precision, recall, F1, macro-F1, confusion matrix, model size, ms/image &amp; FPS</a:t>
            </a:r>
          </a:p>
          <a:p>
            <a:pPr>
              <a:spcAft>
                <a:spcPts val="1000"/>
              </a:spcAft>
            </a:pPr>
            <a:r>
              <a:rPr sz="1500" b="0">
                <a:solidFill>
                  <a:srgbClr val="1A1F2E"/>
                </a:solidFill>
                <a:latin typeface="Calibri"/>
              </a:rPr>
              <a:t>•  Optional track: YOLOv8s / YOLO11n for full-scene detection (off until labels exist)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92240"/>
            <a:ext cx="9144000" cy="274320"/>
          </a:xfrm>
          <a:prstGeom prst="rect">
            <a:avLst/>
          </a:prstGeom>
          <a:noFill/>
        </p:spPr>
        <p:txBody>
          <a:bodyPr wrap="none">
            <a:spAutoFit/>
          </a:bodyPr>
          <a:lstStyle/>
          <a:p>
            <a:r>
              <a:rPr sz="1100" b="0">
                <a:solidFill>
                  <a:srgbClr val="5B6475"/>
                </a:solidFill>
                <a:latin typeface="Calibri"/>
              </a:rPr>
              <a:t>CAI2840C  ·  Parking Occupancy Detection  ·  6/11</a:t>
            </a:r>
          </a:p>
        </p:txBody>
      </p:sp>
      <p:sp>
        <p:nvSpPr>
          <p:cNvPr id="5" name="TextBox 4"/>
          <p:cNvSpPr txBox="1"/>
          <p:nvPr/>
        </p:nvSpPr>
        <p:spPr>
          <a:xfrm>
            <a:off x="10515600" y="6492240"/>
            <a:ext cx="1280160" cy="274320"/>
          </a:xfrm>
          <a:prstGeom prst="rect">
            <a:avLst/>
          </a:prstGeom>
          <a:noFill/>
        </p:spPr>
        <p:txBody>
          <a:bodyPr wrap="none">
            <a:spAutoFit/>
          </a:bodyPr>
          <a:lstStyle/>
          <a:p>
            <a:pPr algn="r"/>
            <a:r>
              <a:rPr sz="1100" b="0">
                <a:solidFill>
                  <a:srgbClr val="5B6475"/>
                </a:solidFill>
                <a:latin typeface="Calibri"/>
              </a:rPr>
              <a:t>Gimeno · Jauregui · Rudes</a:t>
            </a:r>
          </a:p>
        </p:txBody>
      </p:sp>
      <p:sp>
        <p:nvSpPr>
          <p:cNvPr id="6" name="TextBox 5"/>
          <p:cNvSpPr txBox="1"/>
          <p:nvPr/>
        </p:nvSpPr>
        <p:spPr>
          <a:xfrm>
            <a:off x="548640" y="320040"/>
            <a:ext cx="11155680" cy="640080"/>
          </a:xfrm>
          <a:prstGeom prst="rect">
            <a:avLst/>
          </a:prstGeom>
          <a:noFill/>
        </p:spPr>
        <p:txBody>
          <a:bodyPr wrap="none">
            <a:spAutoFit/>
          </a:bodyPr>
          <a:lstStyle/>
          <a:p>
            <a:r>
              <a:rPr sz="3200" b="1">
                <a:solidFill>
                  <a:srgbClr val="1A1F2E"/>
                </a:solidFill>
                <a:latin typeface="Calibri"/>
              </a:rPr>
              <a:t>Experimental pipeline</a:t>
            </a:r>
          </a:p>
        </p:txBody>
      </p:sp>
      <p:sp>
        <p:nvSpPr>
          <p:cNvPr id="7" name="TextBox 6"/>
          <p:cNvSpPr txBox="1"/>
          <p:nvPr/>
        </p:nvSpPr>
        <p:spPr>
          <a:xfrm>
            <a:off x="548640" y="914400"/>
            <a:ext cx="11155680" cy="411480"/>
          </a:xfrm>
          <a:prstGeom prst="rect">
            <a:avLst/>
          </a:prstGeom>
          <a:noFill/>
        </p:spPr>
        <p:txBody>
          <a:bodyPr wrap="none">
            <a:spAutoFit/>
          </a:bodyPr>
          <a:lstStyle/>
          <a:p>
            <a:r>
              <a:rPr sz="1600" b="0">
                <a:solidFill>
                  <a:srgbClr val="5B6475"/>
                </a:solidFill>
                <a:latin typeface="Calibri"/>
              </a:rPr>
              <a:t>Reproducible end-to-end workflow</a:t>
            </a:r>
          </a:p>
        </p:txBody>
      </p:sp>
      <p:sp>
        <p:nvSpPr>
          <p:cNvPr id="8" name="Rounded Rectangle 7"/>
          <p:cNvSpPr/>
          <p:nvPr/>
        </p:nvSpPr>
        <p:spPr>
          <a:xfrm>
            <a:off x="502920" y="1554480"/>
            <a:ext cx="2103120" cy="320040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1828800" cy="320040"/>
          </a:xfrm>
          <a:prstGeom prst="rect">
            <a:avLst/>
          </a:prstGeom>
          <a:noFill/>
        </p:spPr>
        <p:txBody>
          <a:bodyPr wrap="none">
            <a:spAutoFit/>
          </a:bodyPr>
          <a:lstStyle/>
          <a:p>
            <a:r>
              <a:rPr sz="1400" b="1">
                <a:solidFill>
                  <a:srgbClr val="0B6E7A"/>
                </a:solidFill>
                <a:latin typeface="Calibri"/>
              </a:rPr>
              <a:t>01</a:t>
            </a:r>
          </a:p>
        </p:txBody>
      </p:sp>
      <p:sp>
        <p:nvSpPr>
          <p:cNvPr id="10" name="TextBox 9"/>
          <p:cNvSpPr txBox="1"/>
          <p:nvPr/>
        </p:nvSpPr>
        <p:spPr>
          <a:xfrm>
            <a:off x="640080" y="2194560"/>
            <a:ext cx="1828800" cy="365760"/>
          </a:xfrm>
          <a:prstGeom prst="rect">
            <a:avLst/>
          </a:prstGeom>
          <a:noFill/>
        </p:spPr>
        <p:txBody>
          <a:bodyPr wrap="none">
            <a:spAutoFit/>
          </a:bodyPr>
          <a:lstStyle/>
          <a:p>
            <a:r>
              <a:rPr sz="1800" b="1">
                <a:solidFill>
                  <a:srgbClr val="1A1F2E"/>
                </a:solidFill>
                <a:latin typeface="Calibri"/>
              </a:rPr>
              <a:t>Inventory</a:t>
            </a:r>
          </a:p>
        </p:txBody>
      </p:sp>
      <p:sp>
        <p:nvSpPr>
          <p:cNvPr id="11" name="TextBox 10"/>
          <p:cNvSpPr txBox="1"/>
          <p:nvPr/>
        </p:nvSpPr>
        <p:spPr>
          <a:xfrm>
            <a:off x="640080" y="2743200"/>
            <a:ext cx="1828800" cy="1371600"/>
          </a:xfrm>
          <a:prstGeom prst="rect">
            <a:avLst/>
          </a:prstGeom>
          <a:noFill/>
        </p:spPr>
        <p:txBody>
          <a:bodyPr wrap="square">
            <a:spAutoFit/>
          </a:bodyPr>
          <a:lstStyle/>
          <a:p>
            <a:r>
              <a:rPr sz="1400" b="0">
                <a:solidFill>
                  <a:srgbClr val="5B6475"/>
                </a:solidFill>
                <a:latin typeface="Calibri"/>
              </a:rPr>
              <a:t>Scan PKLot &amp;
CNRPark-EXT labels</a:t>
            </a:r>
          </a:p>
        </p:txBody>
      </p:sp>
      <p:sp>
        <p:nvSpPr>
          <p:cNvPr id="12" name="TextBox 11"/>
          <p:cNvSpPr txBox="1"/>
          <p:nvPr/>
        </p:nvSpPr>
        <p:spPr>
          <a:xfrm>
            <a:off x="2468880" y="2834640"/>
            <a:ext cx="365760" cy="365760"/>
          </a:xfrm>
          <a:prstGeom prst="rect">
            <a:avLst/>
          </a:prstGeom>
          <a:noFill/>
        </p:spPr>
        <p:txBody>
          <a:bodyPr wrap="none">
            <a:spAutoFit/>
          </a:bodyPr>
          <a:lstStyle/>
          <a:p>
            <a:r>
              <a:rPr sz="2200" b="1">
                <a:solidFill>
                  <a:srgbClr val="0B6E7A"/>
                </a:solidFill>
                <a:latin typeface="Calibri"/>
              </a:rPr>
              <a:t>→</a:t>
            </a:r>
          </a:p>
        </p:txBody>
      </p:sp>
      <p:sp>
        <p:nvSpPr>
          <p:cNvPr id="13" name="Rounded Rectangle 12"/>
          <p:cNvSpPr/>
          <p:nvPr/>
        </p:nvSpPr>
        <p:spPr>
          <a:xfrm>
            <a:off x="2788920" y="1554480"/>
            <a:ext cx="2103120" cy="320040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1783080"/>
            <a:ext cx="1828800" cy="320040"/>
          </a:xfrm>
          <a:prstGeom prst="rect">
            <a:avLst/>
          </a:prstGeom>
          <a:noFill/>
        </p:spPr>
        <p:txBody>
          <a:bodyPr wrap="none">
            <a:spAutoFit/>
          </a:bodyPr>
          <a:lstStyle/>
          <a:p>
            <a:r>
              <a:rPr sz="1400" b="1">
                <a:solidFill>
                  <a:srgbClr val="0B6E7A"/>
                </a:solidFill>
                <a:latin typeface="Calibri"/>
              </a:rPr>
              <a:t>02</a:t>
            </a:r>
          </a:p>
        </p:txBody>
      </p:sp>
      <p:sp>
        <p:nvSpPr>
          <p:cNvPr id="15" name="TextBox 14"/>
          <p:cNvSpPr txBox="1"/>
          <p:nvPr/>
        </p:nvSpPr>
        <p:spPr>
          <a:xfrm>
            <a:off x="2926080" y="2194560"/>
            <a:ext cx="1828800" cy="365760"/>
          </a:xfrm>
          <a:prstGeom prst="rect">
            <a:avLst/>
          </a:prstGeom>
          <a:noFill/>
        </p:spPr>
        <p:txBody>
          <a:bodyPr wrap="none">
            <a:spAutoFit/>
          </a:bodyPr>
          <a:lstStyle/>
          <a:p>
            <a:r>
              <a:rPr sz="1800" b="1">
                <a:solidFill>
                  <a:srgbClr val="1A1F2E"/>
                </a:solidFill>
                <a:latin typeface="Calibri"/>
              </a:rPr>
              <a:t>Split</a:t>
            </a:r>
          </a:p>
        </p:txBody>
      </p:sp>
      <p:sp>
        <p:nvSpPr>
          <p:cNvPr id="16" name="TextBox 15"/>
          <p:cNvSpPr txBox="1"/>
          <p:nvPr/>
        </p:nvSpPr>
        <p:spPr>
          <a:xfrm>
            <a:off x="2926080" y="2743200"/>
            <a:ext cx="1828800" cy="1371600"/>
          </a:xfrm>
          <a:prstGeom prst="rect">
            <a:avLst/>
          </a:prstGeom>
          <a:noFill/>
        </p:spPr>
        <p:txBody>
          <a:bodyPr wrap="square">
            <a:spAutoFit/>
          </a:bodyPr>
          <a:lstStyle/>
          <a:p>
            <a:r>
              <a:rPr sz="1400" b="0">
                <a:solidFill>
                  <a:srgbClr val="5B6475"/>
                </a:solidFill>
                <a:latin typeface="Calibri"/>
              </a:rPr>
              <a:t>Scene-aware
70 / 15 / 15</a:t>
            </a:r>
          </a:p>
        </p:txBody>
      </p:sp>
      <p:sp>
        <p:nvSpPr>
          <p:cNvPr id="17" name="TextBox 16"/>
          <p:cNvSpPr txBox="1"/>
          <p:nvPr/>
        </p:nvSpPr>
        <p:spPr>
          <a:xfrm>
            <a:off x="4754880" y="2834640"/>
            <a:ext cx="365760" cy="365760"/>
          </a:xfrm>
          <a:prstGeom prst="rect">
            <a:avLst/>
          </a:prstGeom>
          <a:noFill/>
        </p:spPr>
        <p:txBody>
          <a:bodyPr wrap="none">
            <a:spAutoFit/>
          </a:bodyPr>
          <a:lstStyle/>
          <a:p>
            <a:r>
              <a:rPr sz="2200" b="1">
                <a:solidFill>
                  <a:srgbClr val="0B6E7A"/>
                </a:solidFill>
                <a:latin typeface="Calibri"/>
              </a:rPr>
              <a:t>→</a:t>
            </a:r>
          </a:p>
        </p:txBody>
      </p:sp>
      <p:sp>
        <p:nvSpPr>
          <p:cNvPr id="18" name="Rounded Rectangle 17"/>
          <p:cNvSpPr/>
          <p:nvPr/>
        </p:nvSpPr>
        <p:spPr>
          <a:xfrm>
            <a:off x="5074920" y="1554480"/>
            <a:ext cx="2103120" cy="320040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1783080"/>
            <a:ext cx="1828800" cy="320040"/>
          </a:xfrm>
          <a:prstGeom prst="rect">
            <a:avLst/>
          </a:prstGeom>
          <a:noFill/>
        </p:spPr>
        <p:txBody>
          <a:bodyPr wrap="none">
            <a:spAutoFit/>
          </a:bodyPr>
          <a:lstStyle/>
          <a:p>
            <a:r>
              <a:rPr sz="1400" b="1">
                <a:solidFill>
                  <a:srgbClr val="0B6E7A"/>
                </a:solidFill>
                <a:latin typeface="Calibri"/>
              </a:rPr>
              <a:t>03</a:t>
            </a:r>
          </a:p>
        </p:txBody>
      </p:sp>
      <p:sp>
        <p:nvSpPr>
          <p:cNvPr id="20" name="TextBox 19"/>
          <p:cNvSpPr txBox="1"/>
          <p:nvPr/>
        </p:nvSpPr>
        <p:spPr>
          <a:xfrm>
            <a:off x="5212080" y="2194560"/>
            <a:ext cx="1828800" cy="365760"/>
          </a:xfrm>
          <a:prstGeom prst="rect">
            <a:avLst/>
          </a:prstGeom>
          <a:noFill/>
        </p:spPr>
        <p:txBody>
          <a:bodyPr wrap="none">
            <a:spAutoFit/>
          </a:bodyPr>
          <a:lstStyle/>
          <a:p>
            <a:r>
              <a:rPr sz="1800" b="1">
                <a:solidFill>
                  <a:srgbClr val="1A1F2E"/>
                </a:solidFill>
                <a:latin typeface="Calibri"/>
              </a:rPr>
              <a:t>Train</a:t>
            </a:r>
          </a:p>
        </p:txBody>
      </p:sp>
      <p:sp>
        <p:nvSpPr>
          <p:cNvPr id="21" name="TextBox 20"/>
          <p:cNvSpPr txBox="1"/>
          <p:nvPr/>
        </p:nvSpPr>
        <p:spPr>
          <a:xfrm>
            <a:off x="5212080" y="2743200"/>
            <a:ext cx="1828800" cy="1371600"/>
          </a:xfrm>
          <a:prstGeom prst="rect">
            <a:avLst/>
          </a:prstGeom>
          <a:noFill/>
        </p:spPr>
        <p:txBody>
          <a:bodyPr wrap="square">
            <a:spAutoFit/>
          </a:bodyPr>
          <a:lstStyle/>
          <a:p>
            <a:r>
              <a:rPr sz="1400" b="0">
                <a:solidFill>
                  <a:srgbClr val="5B6475"/>
                </a:solidFill>
                <a:latin typeface="Calibri"/>
              </a:rPr>
              <a:t>Baseline +
3 TL models</a:t>
            </a:r>
          </a:p>
        </p:txBody>
      </p:sp>
      <p:sp>
        <p:nvSpPr>
          <p:cNvPr id="22" name="TextBox 21"/>
          <p:cNvSpPr txBox="1"/>
          <p:nvPr/>
        </p:nvSpPr>
        <p:spPr>
          <a:xfrm>
            <a:off x="7040880" y="2834640"/>
            <a:ext cx="365760" cy="365760"/>
          </a:xfrm>
          <a:prstGeom prst="rect">
            <a:avLst/>
          </a:prstGeom>
          <a:noFill/>
        </p:spPr>
        <p:txBody>
          <a:bodyPr wrap="none">
            <a:spAutoFit/>
          </a:bodyPr>
          <a:lstStyle/>
          <a:p>
            <a:r>
              <a:rPr sz="2200" b="1">
                <a:solidFill>
                  <a:srgbClr val="0B6E7A"/>
                </a:solidFill>
                <a:latin typeface="Calibri"/>
              </a:rPr>
              <a:t>→</a:t>
            </a:r>
          </a:p>
        </p:txBody>
      </p:sp>
      <p:sp>
        <p:nvSpPr>
          <p:cNvPr id="23" name="Rounded Rectangle 22"/>
          <p:cNvSpPr/>
          <p:nvPr/>
        </p:nvSpPr>
        <p:spPr>
          <a:xfrm>
            <a:off x="7360920" y="1554480"/>
            <a:ext cx="2103120" cy="320040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0" y="1783080"/>
            <a:ext cx="1828800" cy="320040"/>
          </a:xfrm>
          <a:prstGeom prst="rect">
            <a:avLst/>
          </a:prstGeom>
          <a:noFill/>
        </p:spPr>
        <p:txBody>
          <a:bodyPr wrap="none">
            <a:spAutoFit/>
          </a:bodyPr>
          <a:lstStyle/>
          <a:p>
            <a:r>
              <a:rPr sz="1400" b="1">
                <a:solidFill>
                  <a:srgbClr val="0B6E7A"/>
                </a:solidFill>
                <a:latin typeface="Calibri"/>
              </a:rPr>
              <a:t>04</a:t>
            </a:r>
          </a:p>
        </p:txBody>
      </p:sp>
      <p:sp>
        <p:nvSpPr>
          <p:cNvPr id="25" name="TextBox 24"/>
          <p:cNvSpPr txBox="1"/>
          <p:nvPr/>
        </p:nvSpPr>
        <p:spPr>
          <a:xfrm>
            <a:off x="7498080" y="2194560"/>
            <a:ext cx="1828800" cy="365760"/>
          </a:xfrm>
          <a:prstGeom prst="rect">
            <a:avLst/>
          </a:prstGeom>
          <a:noFill/>
        </p:spPr>
        <p:txBody>
          <a:bodyPr wrap="none">
            <a:spAutoFit/>
          </a:bodyPr>
          <a:lstStyle/>
          <a:p>
            <a:r>
              <a:rPr sz="1800" b="1">
                <a:solidFill>
                  <a:srgbClr val="1A1F2E"/>
                </a:solidFill>
                <a:latin typeface="Calibri"/>
              </a:rPr>
              <a:t>Evaluate</a:t>
            </a:r>
          </a:p>
        </p:txBody>
      </p:sp>
      <p:sp>
        <p:nvSpPr>
          <p:cNvPr id="26" name="TextBox 25"/>
          <p:cNvSpPr txBox="1"/>
          <p:nvPr/>
        </p:nvSpPr>
        <p:spPr>
          <a:xfrm>
            <a:off x="7498080" y="2743200"/>
            <a:ext cx="1828800" cy="1371600"/>
          </a:xfrm>
          <a:prstGeom prst="rect">
            <a:avLst/>
          </a:prstGeom>
          <a:noFill/>
        </p:spPr>
        <p:txBody>
          <a:bodyPr wrap="square">
            <a:spAutoFit/>
          </a:bodyPr>
          <a:lstStyle/>
          <a:p>
            <a:r>
              <a:rPr sz="1400" b="0">
                <a:solidFill>
                  <a:srgbClr val="5B6475"/>
                </a:solidFill>
                <a:latin typeface="Calibri"/>
              </a:rPr>
              <a:t>Test metrics &amp;
condition tables</a:t>
            </a:r>
          </a:p>
        </p:txBody>
      </p:sp>
      <p:sp>
        <p:nvSpPr>
          <p:cNvPr id="27" name="TextBox 26"/>
          <p:cNvSpPr txBox="1"/>
          <p:nvPr/>
        </p:nvSpPr>
        <p:spPr>
          <a:xfrm>
            <a:off x="9326880" y="2834640"/>
            <a:ext cx="365760" cy="365760"/>
          </a:xfrm>
          <a:prstGeom prst="rect">
            <a:avLst/>
          </a:prstGeom>
          <a:noFill/>
        </p:spPr>
        <p:txBody>
          <a:bodyPr wrap="none">
            <a:spAutoFit/>
          </a:bodyPr>
          <a:lstStyle/>
          <a:p>
            <a:r>
              <a:rPr sz="2200" b="1">
                <a:solidFill>
                  <a:srgbClr val="0B6E7A"/>
                </a:solidFill>
                <a:latin typeface="Calibri"/>
              </a:rPr>
              <a:t>→</a:t>
            </a:r>
          </a:p>
        </p:txBody>
      </p:sp>
      <p:sp>
        <p:nvSpPr>
          <p:cNvPr id="28" name="Rounded Rectangle 27"/>
          <p:cNvSpPr/>
          <p:nvPr/>
        </p:nvSpPr>
        <p:spPr>
          <a:xfrm>
            <a:off x="9646920" y="1554480"/>
            <a:ext cx="2103120" cy="320040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84080" y="1783080"/>
            <a:ext cx="1828800" cy="320040"/>
          </a:xfrm>
          <a:prstGeom prst="rect">
            <a:avLst/>
          </a:prstGeom>
          <a:noFill/>
        </p:spPr>
        <p:txBody>
          <a:bodyPr wrap="none">
            <a:spAutoFit/>
          </a:bodyPr>
          <a:lstStyle/>
          <a:p>
            <a:r>
              <a:rPr sz="1400" b="1">
                <a:solidFill>
                  <a:srgbClr val="0B6E7A"/>
                </a:solidFill>
                <a:latin typeface="Calibri"/>
              </a:rPr>
              <a:t>05</a:t>
            </a:r>
          </a:p>
        </p:txBody>
      </p:sp>
      <p:sp>
        <p:nvSpPr>
          <p:cNvPr id="30" name="TextBox 29"/>
          <p:cNvSpPr txBox="1"/>
          <p:nvPr/>
        </p:nvSpPr>
        <p:spPr>
          <a:xfrm>
            <a:off x="9784080" y="2194560"/>
            <a:ext cx="1828800" cy="365760"/>
          </a:xfrm>
          <a:prstGeom prst="rect">
            <a:avLst/>
          </a:prstGeom>
          <a:noFill/>
        </p:spPr>
        <p:txBody>
          <a:bodyPr wrap="none">
            <a:spAutoFit/>
          </a:bodyPr>
          <a:lstStyle/>
          <a:p>
            <a:r>
              <a:rPr sz="1800" b="1">
                <a:solidFill>
                  <a:srgbClr val="1A1F2E"/>
                </a:solidFill>
                <a:latin typeface="Calibri"/>
              </a:rPr>
              <a:t>Review</a:t>
            </a:r>
          </a:p>
        </p:txBody>
      </p:sp>
      <p:sp>
        <p:nvSpPr>
          <p:cNvPr id="31" name="TextBox 30"/>
          <p:cNvSpPr txBox="1"/>
          <p:nvPr/>
        </p:nvSpPr>
        <p:spPr>
          <a:xfrm>
            <a:off x="9784080" y="2743200"/>
            <a:ext cx="1828800" cy="1371600"/>
          </a:xfrm>
          <a:prstGeom prst="rect">
            <a:avLst/>
          </a:prstGeom>
          <a:noFill/>
        </p:spPr>
        <p:txBody>
          <a:bodyPr wrap="square">
            <a:spAutoFit/>
          </a:bodyPr>
          <a:lstStyle/>
          <a:p>
            <a:r>
              <a:rPr sz="1400" b="0">
                <a:solidFill>
                  <a:srgbClr val="5B6475"/>
                </a:solidFill>
                <a:latin typeface="Calibri"/>
              </a:rPr>
              <a:t>Failure cases
for H3</a:t>
            </a:r>
          </a:p>
        </p:txBody>
      </p:sp>
      <p:sp>
        <p:nvSpPr>
          <p:cNvPr id="32" name="TextBox 31"/>
          <p:cNvSpPr txBox="1"/>
          <p:nvPr/>
        </p:nvSpPr>
        <p:spPr>
          <a:xfrm>
            <a:off x="548640" y="5120640"/>
            <a:ext cx="11064240" cy="822960"/>
          </a:xfrm>
          <a:prstGeom prst="rect">
            <a:avLst/>
          </a:prstGeom>
          <a:noFill/>
        </p:spPr>
        <p:txBody>
          <a:bodyPr wrap="square">
            <a:spAutoFit/>
          </a:bodyPr>
          <a:lstStyle/>
          <a:p>
            <a:r>
              <a:rPr sz="1400" b="0">
                <a:solidFill>
                  <a:srgbClr val="5B6475"/>
                </a:solidFill>
                <a:latin typeface="Calibri"/>
              </a:rPr>
              <a:t>Code &amp; config archived: configs/default.yaml · notebooks/01_parking_occupancy_experiment.ipynb · outputs/metrics/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92240"/>
            <a:ext cx="9144000" cy="274320"/>
          </a:xfrm>
          <a:prstGeom prst="rect">
            <a:avLst/>
          </a:prstGeom>
          <a:noFill/>
        </p:spPr>
        <p:txBody>
          <a:bodyPr wrap="none">
            <a:spAutoFit/>
          </a:bodyPr>
          <a:lstStyle/>
          <a:p>
            <a:r>
              <a:rPr sz="1100" b="0">
                <a:solidFill>
                  <a:srgbClr val="5B6475"/>
                </a:solidFill>
                <a:latin typeface="Calibri"/>
              </a:rPr>
              <a:t>CAI2840C  ·  Parking Occupancy Detection  ·  7/11</a:t>
            </a:r>
          </a:p>
        </p:txBody>
      </p:sp>
      <p:sp>
        <p:nvSpPr>
          <p:cNvPr id="5" name="TextBox 4"/>
          <p:cNvSpPr txBox="1"/>
          <p:nvPr/>
        </p:nvSpPr>
        <p:spPr>
          <a:xfrm>
            <a:off x="10515600" y="6492240"/>
            <a:ext cx="1280160" cy="274320"/>
          </a:xfrm>
          <a:prstGeom prst="rect">
            <a:avLst/>
          </a:prstGeom>
          <a:noFill/>
        </p:spPr>
        <p:txBody>
          <a:bodyPr wrap="none">
            <a:spAutoFit/>
          </a:bodyPr>
          <a:lstStyle/>
          <a:p>
            <a:pPr algn="r"/>
            <a:r>
              <a:rPr sz="1100" b="0">
                <a:solidFill>
                  <a:srgbClr val="5B6475"/>
                </a:solidFill>
                <a:latin typeface="Calibri"/>
              </a:rPr>
              <a:t>Gimeno · Jauregui · Rudes</a:t>
            </a:r>
          </a:p>
        </p:txBody>
      </p:sp>
      <p:sp>
        <p:nvSpPr>
          <p:cNvPr id="6" name="TextBox 5"/>
          <p:cNvSpPr txBox="1"/>
          <p:nvPr/>
        </p:nvSpPr>
        <p:spPr>
          <a:xfrm>
            <a:off x="548640" y="320040"/>
            <a:ext cx="11155680" cy="640080"/>
          </a:xfrm>
          <a:prstGeom prst="rect">
            <a:avLst/>
          </a:prstGeom>
          <a:noFill/>
        </p:spPr>
        <p:txBody>
          <a:bodyPr wrap="none">
            <a:spAutoFit/>
          </a:bodyPr>
          <a:lstStyle/>
          <a:p>
            <a:r>
              <a:rPr sz="3200" b="1">
                <a:solidFill>
                  <a:srgbClr val="1A1F2E"/>
                </a:solidFill>
                <a:latin typeface="Calibri"/>
              </a:rPr>
              <a:t>Results — classification comparison</a:t>
            </a:r>
          </a:p>
        </p:txBody>
      </p:sp>
      <p:sp>
        <p:nvSpPr>
          <p:cNvPr id="7" name="TextBox 6"/>
          <p:cNvSpPr txBox="1"/>
          <p:nvPr/>
        </p:nvSpPr>
        <p:spPr>
          <a:xfrm>
            <a:off x="548640" y="914400"/>
            <a:ext cx="11155680" cy="411480"/>
          </a:xfrm>
          <a:prstGeom prst="rect">
            <a:avLst/>
          </a:prstGeom>
          <a:noFill/>
        </p:spPr>
        <p:txBody>
          <a:bodyPr wrap="none">
            <a:spAutoFit/>
          </a:bodyPr>
          <a:lstStyle/>
          <a:p>
            <a:r>
              <a:rPr sz="1600" b="0">
                <a:solidFill>
                  <a:srgbClr val="5B6475"/>
                </a:solidFill>
                <a:latin typeface="Calibri"/>
              </a:rPr>
              <a:t>Preliminary demo run on the reproducible pipeline (synthetic patches for pipeline validation)</a:t>
            </a:r>
          </a:p>
        </p:txBody>
      </p:sp>
      <p:sp>
        <p:nvSpPr>
          <p:cNvPr id="8" name="Rectangle 7"/>
          <p:cNvSpPr/>
          <p:nvPr/>
        </p:nvSpPr>
        <p:spPr>
          <a:xfrm>
            <a:off x="1097280" y="1554480"/>
            <a:ext cx="2194560" cy="50292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645920"/>
            <a:ext cx="2194560" cy="365760"/>
          </a:xfrm>
          <a:prstGeom prst="rect">
            <a:avLst/>
          </a:prstGeom>
          <a:noFill/>
        </p:spPr>
        <p:txBody>
          <a:bodyPr wrap="none">
            <a:spAutoFit/>
          </a:bodyPr>
          <a:lstStyle/>
          <a:p>
            <a:pPr algn="ctr"/>
            <a:r>
              <a:rPr sz="1300" b="1">
                <a:solidFill>
                  <a:srgbClr val="FFFFFF"/>
                </a:solidFill>
                <a:latin typeface="Calibri"/>
              </a:rPr>
              <a:t>Model</a:t>
            </a:r>
          </a:p>
        </p:txBody>
      </p:sp>
      <p:sp>
        <p:nvSpPr>
          <p:cNvPr id="10" name="Rectangle 9"/>
          <p:cNvSpPr/>
          <p:nvPr/>
        </p:nvSpPr>
        <p:spPr>
          <a:xfrm>
            <a:off x="3291840" y="1554480"/>
            <a:ext cx="1463040" cy="50292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645920"/>
            <a:ext cx="1463040" cy="365760"/>
          </a:xfrm>
          <a:prstGeom prst="rect">
            <a:avLst/>
          </a:prstGeom>
          <a:noFill/>
        </p:spPr>
        <p:txBody>
          <a:bodyPr wrap="none">
            <a:spAutoFit/>
          </a:bodyPr>
          <a:lstStyle/>
          <a:p>
            <a:pPr algn="ctr"/>
            <a:r>
              <a:rPr sz="1300" b="1">
                <a:solidFill>
                  <a:srgbClr val="FFFFFF"/>
                </a:solidFill>
                <a:latin typeface="Calibri"/>
              </a:rPr>
              <a:t>Accuracy</a:t>
            </a:r>
          </a:p>
        </p:txBody>
      </p:sp>
      <p:sp>
        <p:nvSpPr>
          <p:cNvPr id="12" name="Rectangle 11"/>
          <p:cNvSpPr/>
          <p:nvPr/>
        </p:nvSpPr>
        <p:spPr>
          <a:xfrm>
            <a:off x="4754880" y="1554480"/>
            <a:ext cx="1280160" cy="50292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1645920"/>
            <a:ext cx="1280160" cy="365760"/>
          </a:xfrm>
          <a:prstGeom prst="rect">
            <a:avLst/>
          </a:prstGeom>
          <a:noFill/>
        </p:spPr>
        <p:txBody>
          <a:bodyPr wrap="none">
            <a:spAutoFit/>
          </a:bodyPr>
          <a:lstStyle/>
          <a:p>
            <a:pPr algn="ctr"/>
            <a:r>
              <a:rPr sz="1300" b="1">
                <a:solidFill>
                  <a:srgbClr val="FFFFFF"/>
                </a:solidFill>
                <a:latin typeface="Calibri"/>
              </a:rPr>
              <a:t>F1</a:t>
            </a:r>
          </a:p>
        </p:txBody>
      </p:sp>
      <p:sp>
        <p:nvSpPr>
          <p:cNvPr id="14" name="Rectangle 13"/>
          <p:cNvSpPr/>
          <p:nvPr/>
        </p:nvSpPr>
        <p:spPr>
          <a:xfrm>
            <a:off x="6035040" y="1554480"/>
            <a:ext cx="1645920" cy="50292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1645920"/>
            <a:ext cx="1645920" cy="365760"/>
          </a:xfrm>
          <a:prstGeom prst="rect">
            <a:avLst/>
          </a:prstGeom>
          <a:noFill/>
        </p:spPr>
        <p:txBody>
          <a:bodyPr wrap="none">
            <a:spAutoFit/>
          </a:bodyPr>
          <a:lstStyle/>
          <a:p>
            <a:pPr algn="ctr"/>
            <a:r>
              <a:rPr sz="1300" b="1">
                <a:solidFill>
                  <a:srgbClr val="FFFFFF"/>
                </a:solidFill>
                <a:latin typeface="Calibri"/>
              </a:rPr>
              <a:t>Size (MB)</a:t>
            </a:r>
          </a:p>
        </p:txBody>
      </p:sp>
      <p:sp>
        <p:nvSpPr>
          <p:cNvPr id="16" name="Rectangle 15"/>
          <p:cNvSpPr/>
          <p:nvPr/>
        </p:nvSpPr>
        <p:spPr>
          <a:xfrm>
            <a:off x="7680960" y="1554480"/>
            <a:ext cx="1828800" cy="50292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1645920"/>
            <a:ext cx="1828800" cy="365760"/>
          </a:xfrm>
          <a:prstGeom prst="rect">
            <a:avLst/>
          </a:prstGeom>
          <a:noFill/>
        </p:spPr>
        <p:txBody>
          <a:bodyPr wrap="none">
            <a:spAutoFit/>
          </a:bodyPr>
          <a:lstStyle/>
          <a:p>
            <a:pPr algn="ctr"/>
            <a:r>
              <a:rPr sz="1300" b="1">
                <a:solidFill>
                  <a:srgbClr val="FFFFFF"/>
                </a:solidFill>
                <a:latin typeface="Calibri"/>
              </a:rPr>
              <a:t>ms / image</a:t>
            </a:r>
          </a:p>
        </p:txBody>
      </p:sp>
      <p:sp>
        <p:nvSpPr>
          <p:cNvPr id="18" name="Rectangle 17"/>
          <p:cNvSpPr/>
          <p:nvPr/>
        </p:nvSpPr>
        <p:spPr>
          <a:xfrm>
            <a:off x="9509760" y="1554480"/>
            <a:ext cx="1280160" cy="50292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0" y="1645920"/>
            <a:ext cx="1280160" cy="365760"/>
          </a:xfrm>
          <a:prstGeom prst="rect">
            <a:avLst/>
          </a:prstGeom>
          <a:noFill/>
        </p:spPr>
        <p:txBody>
          <a:bodyPr wrap="none">
            <a:spAutoFit/>
          </a:bodyPr>
          <a:lstStyle/>
          <a:p>
            <a:pPr algn="ctr"/>
            <a:r>
              <a:rPr sz="1300" b="1">
                <a:solidFill>
                  <a:srgbClr val="FFFFFF"/>
                </a:solidFill>
                <a:latin typeface="Calibri"/>
              </a:rPr>
              <a:t>FPS</a:t>
            </a:r>
          </a:p>
        </p:txBody>
      </p:sp>
      <p:sp>
        <p:nvSpPr>
          <p:cNvPr id="20" name="Rectangle 19"/>
          <p:cNvSpPr/>
          <p:nvPr/>
        </p:nvSpPr>
        <p:spPr>
          <a:xfrm>
            <a:off x="1097280" y="2057400"/>
            <a:ext cx="219456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2167128"/>
            <a:ext cx="2194560" cy="365760"/>
          </a:xfrm>
          <a:prstGeom prst="rect">
            <a:avLst/>
          </a:prstGeom>
          <a:noFill/>
        </p:spPr>
        <p:txBody>
          <a:bodyPr wrap="none">
            <a:spAutoFit/>
          </a:bodyPr>
          <a:lstStyle/>
          <a:p>
            <a:pPr algn="ctr"/>
            <a:r>
              <a:rPr sz="1400" b="0">
                <a:solidFill>
                  <a:srgbClr val="1A1F2E"/>
                </a:solidFill>
                <a:latin typeface="Calibri"/>
              </a:rPr>
              <a:t>Baseline CNN</a:t>
            </a:r>
          </a:p>
        </p:txBody>
      </p:sp>
      <p:sp>
        <p:nvSpPr>
          <p:cNvPr id="22" name="Rectangle 21"/>
          <p:cNvSpPr/>
          <p:nvPr/>
        </p:nvSpPr>
        <p:spPr>
          <a:xfrm>
            <a:off x="3291840" y="2057400"/>
            <a:ext cx="146304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0" y="2167128"/>
            <a:ext cx="1463040" cy="365760"/>
          </a:xfrm>
          <a:prstGeom prst="rect">
            <a:avLst/>
          </a:prstGeom>
          <a:noFill/>
        </p:spPr>
        <p:txBody>
          <a:bodyPr wrap="none">
            <a:spAutoFit/>
          </a:bodyPr>
          <a:lstStyle/>
          <a:p>
            <a:pPr algn="ctr"/>
            <a:r>
              <a:rPr sz="1400" b="0">
                <a:solidFill>
                  <a:srgbClr val="1A1F2E"/>
                </a:solidFill>
                <a:latin typeface="Calibri"/>
              </a:rPr>
              <a:t>0.50</a:t>
            </a:r>
          </a:p>
        </p:txBody>
      </p:sp>
      <p:sp>
        <p:nvSpPr>
          <p:cNvPr id="24" name="Rectangle 23"/>
          <p:cNvSpPr/>
          <p:nvPr/>
        </p:nvSpPr>
        <p:spPr>
          <a:xfrm>
            <a:off x="4754880" y="2057400"/>
            <a:ext cx="128016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2167128"/>
            <a:ext cx="1280160" cy="365760"/>
          </a:xfrm>
          <a:prstGeom prst="rect">
            <a:avLst/>
          </a:prstGeom>
          <a:noFill/>
        </p:spPr>
        <p:txBody>
          <a:bodyPr wrap="none">
            <a:spAutoFit/>
          </a:bodyPr>
          <a:lstStyle/>
          <a:p>
            <a:pPr algn="ctr"/>
            <a:r>
              <a:rPr sz="1400" b="0">
                <a:solidFill>
                  <a:srgbClr val="1A1F2E"/>
                </a:solidFill>
                <a:latin typeface="Calibri"/>
              </a:rPr>
              <a:t>0.00</a:t>
            </a:r>
          </a:p>
        </p:txBody>
      </p:sp>
      <p:sp>
        <p:nvSpPr>
          <p:cNvPr id="26" name="Rectangle 25"/>
          <p:cNvSpPr/>
          <p:nvPr/>
        </p:nvSpPr>
        <p:spPr>
          <a:xfrm>
            <a:off x="6035040" y="2057400"/>
            <a:ext cx="164592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2167128"/>
            <a:ext cx="1645920" cy="365760"/>
          </a:xfrm>
          <a:prstGeom prst="rect">
            <a:avLst/>
          </a:prstGeom>
          <a:noFill/>
        </p:spPr>
        <p:txBody>
          <a:bodyPr wrap="none">
            <a:spAutoFit/>
          </a:bodyPr>
          <a:lstStyle/>
          <a:p>
            <a:pPr algn="ctr"/>
            <a:r>
              <a:rPr sz="1400" b="0">
                <a:solidFill>
                  <a:srgbClr val="1A1F2E"/>
                </a:solidFill>
                <a:latin typeface="Calibri"/>
              </a:rPr>
              <a:t>1.1</a:t>
            </a:r>
          </a:p>
        </p:txBody>
      </p:sp>
      <p:sp>
        <p:nvSpPr>
          <p:cNvPr id="28" name="Rectangle 27"/>
          <p:cNvSpPr/>
          <p:nvPr/>
        </p:nvSpPr>
        <p:spPr>
          <a:xfrm>
            <a:off x="7680960" y="2057400"/>
            <a:ext cx="182880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2167128"/>
            <a:ext cx="1828800" cy="365760"/>
          </a:xfrm>
          <a:prstGeom prst="rect">
            <a:avLst/>
          </a:prstGeom>
          <a:noFill/>
        </p:spPr>
        <p:txBody>
          <a:bodyPr wrap="none">
            <a:spAutoFit/>
          </a:bodyPr>
          <a:lstStyle/>
          <a:p>
            <a:pPr algn="ctr"/>
            <a:r>
              <a:rPr sz="1400" b="0">
                <a:solidFill>
                  <a:srgbClr val="1A1F2E"/>
                </a:solidFill>
                <a:latin typeface="Calibri"/>
              </a:rPr>
              <a:t>1.7</a:t>
            </a:r>
          </a:p>
        </p:txBody>
      </p:sp>
      <p:sp>
        <p:nvSpPr>
          <p:cNvPr id="30" name="Rectangle 29"/>
          <p:cNvSpPr/>
          <p:nvPr/>
        </p:nvSpPr>
        <p:spPr>
          <a:xfrm>
            <a:off x="9509760" y="2057400"/>
            <a:ext cx="128016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09760" y="2167128"/>
            <a:ext cx="1280160" cy="365760"/>
          </a:xfrm>
          <a:prstGeom prst="rect">
            <a:avLst/>
          </a:prstGeom>
          <a:noFill/>
        </p:spPr>
        <p:txBody>
          <a:bodyPr wrap="none">
            <a:spAutoFit/>
          </a:bodyPr>
          <a:lstStyle/>
          <a:p>
            <a:pPr algn="ctr"/>
            <a:r>
              <a:rPr sz="1400" b="0">
                <a:solidFill>
                  <a:srgbClr val="1A1F2E"/>
                </a:solidFill>
                <a:latin typeface="Calibri"/>
              </a:rPr>
              <a:t>583</a:t>
            </a:r>
          </a:p>
        </p:txBody>
      </p:sp>
      <p:sp>
        <p:nvSpPr>
          <p:cNvPr id="32" name="Rectangle 31"/>
          <p:cNvSpPr/>
          <p:nvPr/>
        </p:nvSpPr>
        <p:spPr>
          <a:xfrm>
            <a:off x="1097280" y="2606040"/>
            <a:ext cx="219456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2715768"/>
            <a:ext cx="2194560" cy="365760"/>
          </a:xfrm>
          <a:prstGeom prst="rect">
            <a:avLst/>
          </a:prstGeom>
          <a:noFill/>
        </p:spPr>
        <p:txBody>
          <a:bodyPr wrap="none">
            <a:spAutoFit/>
          </a:bodyPr>
          <a:lstStyle/>
          <a:p>
            <a:pPr algn="ctr"/>
            <a:r>
              <a:rPr sz="1400" b="1">
                <a:solidFill>
                  <a:srgbClr val="1B7A4E"/>
                </a:solidFill>
                <a:latin typeface="Calibri"/>
              </a:rPr>
              <a:t>MobileNetV3</a:t>
            </a:r>
          </a:p>
        </p:txBody>
      </p:sp>
      <p:sp>
        <p:nvSpPr>
          <p:cNvPr id="34" name="Rectangle 33"/>
          <p:cNvSpPr/>
          <p:nvPr/>
        </p:nvSpPr>
        <p:spPr>
          <a:xfrm>
            <a:off x="3291840" y="2606040"/>
            <a:ext cx="146304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0" y="2715768"/>
            <a:ext cx="1463040" cy="365760"/>
          </a:xfrm>
          <a:prstGeom prst="rect">
            <a:avLst/>
          </a:prstGeom>
          <a:noFill/>
        </p:spPr>
        <p:txBody>
          <a:bodyPr wrap="none">
            <a:spAutoFit/>
          </a:bodyPr>
          <a:lstStyle/>
          <a:p>
            <a:pPr algn="ctr"/>
            <a:r>
              <a:rPr sz="1400" b="1">
                <a:solidFill>
                  <a:srgbClr val="1B7A4E"/>
                </a:solidFill>
                <a:latin typeface="Calibri"/>
              </a:rPr>
              <a:t>0.83</a:t>
            </a:r>
          </a:p>
        </p:txBody>
      </p:sp>
      <p:sp>
        <p:nvSpPr>
          <p:cNvPr id="36" name="Rectangle 35"/>
          <p:cNvSpPr/>
          <p:nvPr/>
        </p:nvSpPr>
        <p:spPr>
          <a:xfrm>
            <a:off x="4754880" y="2606040"/>
            <a:ext cx="128016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0" y="2715768"/>
            <a:ext cx="1280160" cy="365760"/>
          </a:xfrm>
          <a:prstGeom prst="rect">
            <a:avLst/>
          </a:prstGeom>
          <a:noFill/>
        </p:spPr>
        <p:txBody>
          <a:bodyPr wrap="none">
            <a:spAutoFit/>
          </a:bodyPr>
          <a:lstStyle/>
          <a:p>
            <a:pPr algn="ctr"/>
            <a:r>
              <a:rPr sz="1400" b="1">
                <a:solidFill>
                  <a:srgbClr val="1B7A4E"/>
                </a:solidFill>
                <a:latin typeface="Calibri"/>
              </a:rPr>
              <a:t>0.85</a:t>
            </a:r>
          </a:p>
        </p:txBody>
      </p:sp>
      <p:sp>
        <p:nvSpPr>
          <p:cNvPr id="38" name="Rectangle 37"/>
          <p:cNvSpPr/>
          <p:nvPr/>
        </p:nvSpPr>
        <p:spPr>
          <a:xfrm>
            <a:off x="6035040" y="2606040"/>
            <a:ext cx="164592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40" y="2715768"/>
            <a:ext cx="1645920" cy="365760"/>
          </a:xfrm>
          <a:prstGeom prst="rect">
            <a:avLst/>
          </a:prstGeom>
          <a:noFill/>
        </p:spPr>
        <p:txBody>
          <a:bodyPr wrap="none">
            <a:spAutoFit/>
          </a:bodyPr>
          <a:lstStyle/>
          <a:p>
            <a:pPr algn="ctr"/>
            <a:r>
              <a:rPr sz="1400" b="1">
                <a:solidFill>
                  <a:srgbClr val="1B7A4E"/>
                </a:solidFill>
                <a:latin typeface="Calibri"/>
              </a:rPr>
              <a:t>4.1</a:t>
            </a:r>
          </a:p>
        </p:txBody>
      </p:sp>
      <p:sp>
        <p:nvSpPr>
          <p:cNvPr id="40" name="Rectangle 39"/>
          <p:cNvSpPr/>
          <p:nvPr/>
        </p:nvSpPr>
        <p:spPr>
          <a:xfrm>
            <a:off x="7680960" y="2606040"/>
            <a:ext cx="182880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0" y="2715768"/>
            <a:ext cx="1828800" cy="365760"/>
          </a:xfrm>
          <a:prstGeom prst="rect">
            <a:avLst/>
          </a:prstGeom>
          <a:noFill/>
        </p:spPr>
        <p:txBody>
          <a:bodyPr wrap="none">
            <a:spAutoFit/>
          </a:bodyPr>
          <a:lstStyle/>
          <a:p>
            <a:pPr algn="ctr"/>
            <a:r>
              <a:rPr sz="1400" b="1">
                <a:solidFill>
                  <a:srgbClr val="1B7A4E"/>
                </a:solidFill>
                <a:latin typeface="Calibri"/>
              </a:rPr>
              <a:t>3.7</a:t>
            </a:r>
          </a:p>
        </p:txBody>
      </p:sp>
      <p:sp>
        <p:nvSpPr>
          <p:cNvPr id="42" name="Rectangle 41"/>
          <p:cNvSpPr/>
          <p:nvPr/>
        </p:nvSpPr>
        <p:spPr>
          <a:xfrm>
            <a:off x="9509760" y="2606040"/>
            <a:ext cx="128016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509760" y="2715768"/>
            <a:ext cx="1280160" cy="365760"/>
          </a:xfrm>
          <a:prstGeom prst="rect">
            <a:avLst/>
          </a:prstGeom>
          <a:noFill/>
        </p:spPr>
        <p:txBody>
          <a:bodyPr wrap="none">
            <a:spAutoFit/>
          </a:bodyPr>
          <a:lstStyle/>
          <a:p>
            <a:pPr algn="ctr"/>
            <a:r>
              <a:rPr sz="1400" b="1">
                <a:solidFill>
                  <a:srgbClr val="1B7A4E"/>
                </a:solidFill>
                <a:latin typeface="Calibri"/>
              </a:rPr>
              <a:t>268</a:t>
            </a:r>
          </a:p>
        </p:txBody>
      </p:sp>
      <p:sp>
        <p:nvSpPr>
          <p:cNvPr id="44" name="Rectangle 43"/>
          <p:cNvSpPr/>
          <p:nvPr/>
        </p:nvSpPr>
        <p:spPr>
          <a:xfrm>
            <a:off x="1097280" y="3154680"/>
            <a:ext cx="219456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3264408"/>
            <a:ext cx="2194560" cy="365760"/>
          </a:xfrm>
          <a:prstGeom prst="rect">
            <a:avLst/>
          </a:prstGeom>
          <a:noFill/>
        </p:spPr>
        <p:txBody>
          <a:bodyPr wrap="none">
            <a:spAutoFit/>
          </a:bodyPr>
          <a:lstStyle/>
          <a:p>
            <a:pPr algn="ctr"/>
            <a:r>
              <a:rPr sz="1400" b="0">
                <a:solidFill>
                  <a:srgbClr val="1A1F2E"/>
                </a:solidFill>
                <a:latin typeface="Calibri"/>
              </a:rPr>
              <a:t>VGG16*</a:t>
            </a:r>
          </a:p>
        </p:txBody>
      </p:sp>
      <p:sp>
        <p:nvSpPr>
          <p:cNvPr id="46" name="Rectangle 45"/>
          <p:cNvSpPr/>
          <p:nvPr/>
        </p:nvSpPr>
        <p:spPr>
          <a:xfrm>
            <a:off x="3291840" y="3154680"/>
            <a:ext cx="146304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0" y="3264408"/>
            <a:ext cx="1463040" cy="365760"/>
          </a:xfrm>
          <a:prstGeom prst="rect">
            <a:avLst/>
          </a:prstGeom>
          <a:noFill/>
        </p:spPr>
        <p:txBody>
          <a:bodyPr wrap="none">
            <a:spAutoFit/>
          </a:bodyPr>
          <a:lstStyle/>
          <a:p>
            <a:pPr algn="ctr"/>
            <a:r>
              <a:rPr sz="1400" b="0">
                <a:solidFill>
                  <a:srgbClr val="1A1F2E"/>
                </a:solidFill>
                <a:latin typeface="Calibri"/>
              </a:rPr>
              <a:t>0.00</a:t>
            </a:r>
          </a:p>
        </p:txBody>
      </p:sp>
      <p:sp>
        <p:nvSpPr>
          <p:cNvPr id="48" name="Rectangle 47"/>
          <p:cNvSpPr/>
          <p:nvPr/>
        </p:nvSpPr>
        <p:spPr>
          <a:xfrm>
            <a:off x="4754880" y="3154680"/>
            <a:ext cx="128016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754880" y="3264408"/>
            <a:ext cx="1280160" cy="365760"/>
          </a:xfrm>
          <a:prstGeom prst="rect">
            <a:avLst/>
          </a:prstGeom>
          <a:noFill/>
        </p:spPr>
        <p:txBody>
          <a:bodyPr wrap="none">
            <a:spAutoFit/>
          </a:bodyPr>
          <a:lstStyle/>
          <a:p>
            <a:pPr algn="ctr"/>
            <a:r>
              <a:rPr sz="1400" b="0">
                <a:solidFill>
                  <a:srgbClr val="1A1F2E"/>
                </a:solidFill>
                <a:latin typeface="Calibri"/>
              </a:rPr>
              <a:t>0.00</a:t>
            </a:r>
          </a:p>
        </p:txBody>
      </p:sp>
      <p:sp>
        <p:nvSpPr>
          <p:cNvPr id="50" name="Rectangle 49"/>
          <p:cNvSpPr/>
          <p:nvPr/>
        </p:nvSpPr>
        <p:spPr>
          <a:xfrm>
            <a:off x="6035040" y="3154680"/>
            <a:ext cx="164592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35040" y="3264408"/>
            <a:ext cx="1645920" cy="365760"/>
          </a:xfrm>
          <a:prstGeom prst="rect">
            <a:avLst/>
          </a:prstGeom>
          <a:noFill/>
        </p:spPr>
        <p:txBody>
          <a:bodyPr wrap="none">
            <a:spAutoFit/>
          </a:bodyPr>
          <a:lstStyle/>
          <a:p>
            <a:pPr algn="ctr"/>
            <a:r>
              <a:rPr sz="1400" b="0">
                <a:solidFill>
                  <a:srgbClr val="1A1F2E"/>
                </a:solidFill>
                <a:latin typeface="Calibri"/>
              </a:rPr>
              <a:t>56.2</a:t>
            </a:r>
          </a:p>
        </p:txBody>
      </p:sp>
      <p:sp>
        <p:nvSpPr>
          <p:cNvPr id="52" name="Rectangle 51"/>
          <p:cNvSpPr/>
          <p:nvPr/>
        </p:nvSpPr>
        <p:spPr>
          <a:xfrm>
            <a:off x="7680960" y="3154680"/>
            <a:ext cx="182880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680960" y="3264408"/>
            <a:ext cx="1828800" cy="365760"/>
          </a:xfrm>
          <a:prstGeom prst="rect">
            <a:avLst/>
          </a:prstGeom>
          <a:noFill/>
        </p:spPr>
        <p:txBody>
          <a:bodyPr wrap="none">
            <a:spAutoFit/>
          </a:bodyPr>
          <a:lstStyle/>
          <a:p>
            <a:pPr algn="ctr"/>
            <a:r>
              <a:rPr sz="1400" b="0">
                <a:solidFill>
                  <a:srgbClr val="1A1F2E"/>
                </a:solidFill>
                <a:latin typeface="Calibri"/>
              </a:rPr>
              <a:t>38.7</a:t>
            </a:r>
          </a:p>
        </p:txBody>
      </p:sp>
      <p:sp>
        <p:nvSpPr>
          <p:cNvPr id="54" name="Rectangle 53"/>
          <p:cNvSpPr/>
          <p:nvPr/>
        </p:nvSpPr>
        <p:spPr>
          <a:xfrm>
            <a:off x="9509760" y="3154680"/>
            <a:ext cx="1280160" cy="548640"/>
          </a:xfrm>
          <a:prstGeom prst="rect">
            <a:avLst/>
          </a:prstGeom>
          <a:solidFill>
            <a:srgbClr val="FFFFFF"/>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09760" y="3264408"/>
            <a:ext cx="1280160" cy="365760"/>
          </a:xfrm>
          <a:prstGeom prst="rect">
            <a:avLst/>
          </a:prstGeom>
          <a:noFill/>
        </p:spPr>
        <p:txBody>
          <a:bodyPr wrap="none">
            <a:spAutoFit/>
          </a:bodyPr>
          <a:lstStyle/>
          <a:p>
            <a:pPr algn="ctr"/>
            <a:r>
              <a:rPr sz="1400" b="0">
                <a:solidFill>
                  <a:srgbClr val="1A1F2E"/>
                </a:solidFill>
                <a:latin typeface="Calibri"/>
              </a:rPr>
              <a:t>26</a:t>
            </a:r>
          </a:p>
        </p:txBody>
      </p:sp>
      <p:sp>
        <p:nvSpPr>
          <p:cNvPr id="56" name="Rectangle 55"/>
          <p:cNvSpPr/>
          <p:nvPr/>
        </p:nvSpPr>
        <p:spPr>
          <a:xfrm>
            <a:off x="1097280" y="3703319"/>
            <a:ext cx="219456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97280" y="3813047"/>
            <a:ext cx="2194560" cy="365760"/>
          </a:xfrm>
          <a:prstGeom prst="rect">
            <a:avLst/>
          </a:prstGeom>
          <a:noFill/>
        </p:spPr>
        <p:txBody>
          <a:bodyPr wrap="none">
            <a:spAutoFit/>
          </a:bodyPr>
          <a:lstStyle/>
          <a:p>
            <a:pPr algn="ctr"/>
            <a:r>
              <a:rPr sz="1400" b="0">
                <a:solidFill>
                  <a:srgbClr val="1A1F2E"/>
                </a:solidFill>
                <a:latin typeface="Calibri"/>
              </a:rPr>
              <a:t>ResNet50</a:t>
            </a:r>
          </a:p>
        </p:txBody>
      </p:sp>
      <p:sp>
        <p:nvSpPr>
          <p:cNvPr id="58" name="Rectangle 57"/>
          <p:cNvSpPr/>
          <p:nvPr/>
        </p:nvSpPr>
        <p:spPr>
          <a:xfrm>
            <a:off x="3291840" y="3703319"/>
            <a:ext cx="146304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291840" y="3813047"/>
            <a:ext cx="1463040" cy="365760"/>
          </a:xfrm>
          <a:prstGeom prst="rect">
            <a:avLst/>
          </a:prstGeom>
          <a:noFill/>
        </p:spPr>
        <p:txBody>
          <a:bodyPr wrap="none">
            <a:spAutoFit/>
          </a:bodyPr>
          <a:lstStyle/>
          <a:p>
            <a:pPr algn="ctr"/>
            <a:r>
              <a:rPr sz="1400" b="0">
                <a:solidFill>
                  <a:srgbClr val="1A1F2E"/>
                </a:solidFill>
                <a:latin typeface="Calibri"/>
              </a:rPr>
              <a:t>0.81</a:t>
            </a:r>
          </a:p>
        </p:txBody>
      </p:sp>
      <p:sp>
        <p:nvSpPr>
          <p:cNvPr id="60" name="Rectangle 59"/>
          <p:cNvSpPr/>
          <p:nvPr/>
        </p:nvSpPr>
        <p:spPr>
          <a:xfrm>
            <a:off x="4754880" y="3703319"/>
            <a:ext cx="128016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54880" y="3813047"/>
            <a:ext cx="1280160" cy="365760"/>
          </a:xfrm>
          <a:prstGeom prst="rect">
            <a:avLst/>
          </a:prstGeom>
          <a:noFill/>
        </p:spPr>
        <p:txBody>
          <a:bodyPr wrap="none">
            <a:spAutoFit/>
          </a:bodyPr>
          <a:lstStyle/>
          <a:p>
            <a:pPr algn="ctr"/>
            <a:r>
              <a:rPr sz="1400" b="0">
                <a:solidFill>
                  <a:srgbClr val="1A1F2E"/>
                </a:solidFill>
                <a:latin typeface="Calibri"/>
              </a:rPr>
              <a:t>0.76</a:t>
            </a:r>
          </a:p>
        </p:txBody>
      </p:sp>
      <p:sp>
        <p:nvSpPr>
          <p:cNvPr id="62" name="Rectangle 61"/>
          <p:cNvSpPr/>
          <p:nvPr/>
        </p:nvSpPr>
        <p:spPr>
          <a:xfrm>
            <a:off x="6035040" y="3703319"/>
            <a:ext cx="164592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35040" y="3813047"/>
            <a:ext cx="1645920" cy="365760"/>
          </a:xfrm>
          <a:prstGeom prst="rect">
            <a:avLst/>
          </a:prstGeom>
          <a:noFill/>
        </p:spPr>
        <p:txBody>
          <a:bodyPr wrap="none">
            <a:spAutoFit/>
          </a:bodyPr>
          <a:lstStyle/>
          <a:p>
            <a:pPr algn="ctr"/>
            <a:r>
              <a:rPr sz="1400" b="0">
                <a:solidFill>
                  <a:srgbClr val="1A1F2E"/>
                </a:solidFill>
                <a:latin typeface="Calibri"/>
              </a:rPr>
              <a:t>90.6</a:t>
            </a:r>
          </a:p>
        </p:txBody>
      </p:sp>
      <p:sp>
        <p:nvSpPr>
          <p:cNvPr id="64" name="Rectangle 63"/>
          <p:cNvSpPr/>
          <p:nvPr/>
        </p:nvSpPr>
        <p:spPr>
          <a:xfrm>
            <a:off x="7680960" y="3703319"/>
            <a:ext cx="182880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680960" y="3813047"/>
            <a:ext cx="1828800" cy="365760"/>
          </a:xfrm>
          <a:prstGeom prst="rect">
            <a:avLst/>
          </a:prstGeom>
          <a:noFill/>
        </p:spPr>
        <p:txBody>
          <a:bodyPr wrap="none">
            <a:spAutoFit/>
          </a:bodyPr>
          <a:lstStyle/>
          <a:p>
            <a:pPr algn="ctr"/>
            <a:r>
              <a:rPr sz="1400" b="0">
                <a:solidFill>
                  <a:srgbClr val="1A1F2E"/>
                </a:solidFill>
                <a:latin typeface="Calibri"/>
              </a:rPr>
              <a:t>22.4</a:t>
            </a:r>
          </a:p>
        </p:txBody>
      </p:sp>
      <p:sp>
        <p:nvSpPr>
          <p:cNvPr id="66" name="Rectangle 65"/>
          <p:cNvSpPr/>
          <p:nvPr/>
        </p:nvSpPr>
        <p:spPr>
          <a:xfrm>
            <a:off x="9509760" y="3703319"/>
            <a:ext cx="1280160" cy="548640"/>
          </a:xfrm>
          <a:prstGeom prst="rect">
            <a:avLst/>
          </a:prstGeom>
          <a:solidFill>
            <a:srgbClr val="D6EEF1"/>
          </a:solidFill>
          <a:ln w="635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509760" y="3813047"/>
            <a:ext cx="1280160" cy="365760"/>
          </a:xfrm>
          <a:prstGeom prst="rect">
            <a:avLst/>
          </a:prstGeom>
          <a:noFill/>
        </p:spPr>
        <p:txBody>
          <a:bodyPr wrap="none">
            <a:spAutoFit/>
          </a:bodyPr>
          <a:lstStyle/>
          <a:p>
            <a:pPr algn="ctr"/>
            <a:r>
              <a:rPr sz="1400" b="0">
                <a:solidFill>
                  <a:srgbClr val="1A1F2E"/>
                </a:solidFill>
                <a:latin typeface="Calibri"/>
              </a:rPr>
              <a:t>45</a:t>
            </a:r>
          </a:p>
        </p:txBody>
      </p:sp>
      <p:sp>
        <p:nvSpPr>
          <p:cNvPr id="68" name="TextBox 67"/>
          <p:cNvSpPr txBox="1"/>
          <p:nvPr/>
        </p:nvSpPr>
        <p:spPr>
          <a:xfrm>
            <a:off x="1097280" y="5029200"/>
            <a:ext cx="9875520" cy="914400"/>
          </a:xfrm>
          <a:prstGeom prst="rect">
            <a:avLst/>
          </a:prstGeom>
          <a:noFill/>
        </p:spPr>
        <p:txBody>
          <a:bodyPr wrap="square">
            <a:spAutoFit/>
          </a:bodyPr>
          <a:lstStyle/>
          <a:p>
            <a:r>
              <a:rPr sz="1400" b="0">
                <a:solidFill>
                  <a:srgbClr val="5B6475"/>
                </a:solidFill>
                <a:latin typeface="Calibri"/>
              </a:rPr>
              <a:t>Takeaway: MobileNetV3 offers the best accuracy–speed–size balance in this run (supports H4). *VGG16 collapsed on synthetic demo data—full PKLot/CNRPark-EXT training is required for research claims.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92240"/>
            <a:ext cx="9144000" cy="274320"/>
          </a:xfrm>
          <a:prstGeom prst="rect">
            <a:avLst/>
          </a:prstGeom>
          <a:noFill/>
        </p:spPr>
        <p:txBody>
          <a:bodyPr wrap="none">
            <a:spAutoFit/>
          </a:bodyPr>
          <a:lstStyle/>
          <a:p>
            <a:r>
              <a:rPr sz="1100" b="0">
                <a:solidFill>
                  <a:srgbClr val="5B6475"/>
                </a:solidFill>
                <a:latin typeface="Calibri"/>
              </a:rPr>
              <a:t>CAI2840C  ·  Parking Occupancy Detection  ·  8/11</a:t>
            </a:r>
          </a:p>
        </p:txBody>
      </p:sp>
      <p:sp>
        <p:nvSpPr>
          <p:cNvPr id="5" name="TextBox 4"/>
          <p:cNvSpPr txBox="1"/>
          <p:nvPr/>
        </p:nvSpPr>
        <p:spPr>
          <a:xfrm>
            <a:off x="10515600" y="6492240"/>
            <a:ext cx="1280160" cy="274320"/>
          </a:xfrm>
          <a:prstGeom prst="rect">
            <a:avLst/>
          </a:prstGeom>
          <a:noFill/>
        </p:spPr>
        <p:txBody>
          <a:bodyPr wrap="none">
            <a:spAutoFit/>
          </a:bodyPr>
          <a:lstStyle/>
          <a:p>
            <a:pPr algn="r"/>
            <a:r>
              <a:rPr sz="1100" b="0">
                <a:solidFill>
                  <a:srgbClr val="5B6475"/>
                </a:solidFill>
                <a:latin typeface="Calibri"/>
              </a:rPr>
              <a:t>Gimeno · Jauregui · Rudes</a:t>
            </a:r>
          </a:p>
        </p:txBody>
      </p:sp>
      <p:sp>
        <p:nvSpPr>
          <p:cNvPr id="6" name="TextBox 5"/>
          <p:cNvSpPr txBox="1"/>
          <p:nvPr/>
        </p:nvSpPr>
        <p:spPr>
          <a:xfrm>
            <a:off x="548640" y="320040"/>
            <a:ext cx="11155680" cy="640080"/>
          </a:xfrm>
          <a:prstGeom prst="rect">
            <a:avLst/>
          </a:prstGeom>
          <a:noFill/>
        </p:spPr>
        <p:txBody>
          <a:bodyPr wrap="none">
            <a:spAutoFit/>
          </a:bodyPr>
          <a:lstStyle/>
          <a:p>
            <a:r>
              <a:rPr sz="3200" b="1">
                <a:solidFill>
                  <a:srgbClr val="1A1F2E"/>
                </a:solidFill>
                <a:latin typeface="Calibri"/>
              </a:rPr>
              <a:t>Results — confusion matrices</a:t>
            </a:r>
          </a:p>
        </p:txBody>
      </p:sp>
      <p:sp>
        <p:nvSpPr>
          <p:cNvPr id="7" name="TextBox 6"/>
          <p:cNvSpPr txBox="1"/>
          <p:nvPr/>
        </p:nvSpPr>
        <p:spPr>
          <a:xfrm>
            <a:off x="548640" y="914400"/>
            <a:ext cx="11155680" cy="411480"/>
          </a:xfrm>
          <a:prstGeom prst="rect">
            <a:avLst/>
          </a:prstGeom>
          <a:noFill/>
        </p:spPr>
        <p:txBody>
          <a:bodyPr wrap="none">
            <a:spAutoFit/>
          </a:bodyPr>
          <a:lstStyle/>
          <a:p>
            <a:r>
              <a:rPr sz="1600" b="0">
                <a:solidFill>
                  <a:srgbClr val="5B6475"/>
                </a:solidFill>
                <a:latin typeface="Calibri"/>
              </a:rPr>
              <a:t>Where each model is right and wrong on the held-out test set</a:t>
            </a:r>
          </a:p>
        </p:txBody>
      </p:sp>
      <p:sp>
        <p:nvSpPr>
          <p:cNvPr id="8" name="TextBox 7"/>
          <p:cNvSpPr txBox="1"/>
          <p:nvPr/>
        </p:nvSpPr>
        <p:spPr>
          <a:xfrm>
            <a:off x="457200" y="1325880"/>
            <a:ext cx="3657600" cy="320040"/>
          </a:xfrm>
          <a:prstGeom prst="rect">
            <a:avLst/>
          </a:prstGeom>
          <a:noFill/>
        </p:spPr>
        <p:txBody>
          <a:bodyPr wrap="none">
            <a:spAutoFit/>
          </a:bodyPr>
          <a:lstStyle/>
          <a:p>
            <a:pPr algn="ctr"/>
            <a:r>
              <a:rPr sz="1400" b="1">
                <a:solidFill>
                  <a:srgbClr val="0B6E7A"/>
                </a:solidFill>
                <a:latin typeface="Calibri"/>
              </a:rPr>
              <a:t>MobileNetV3</a:t>
            </a:r>
          </a:p>
        </p:txBody>
      </p:sp>
      <p:pic>
        <p:nvPicPr>
          <p:cNvPr id="9" name="Picture 8" descr="mobilenetv3_confusion_matrix.png"/>
          <p:cNvPicPr>
            <a:picLocks noChangeAspect="1"/>
          </p:cNvPicPr>
          <p:nvPr/>
        </p:nvPicPr>
        <p:blipFill>
          <a:blip r:embed="rId2"/>
          <a:stretch>
            <a:fillRect/>
          </a:stretch>
        </p:blipFill>
        <p:spPr>
          <a:xfrm>
            <a:off x="685800" y="1737360"/>
            <a:ext cx="4629150" cy="4114800"/>
          </a:xfrm>
          <a:prstGeom prst="rect">
            <a:avLst/>
          </a:prstGeom>
        </p:spPr>
      </p:pic>
      <p:sp>
        <p:nvSpPr>
          <p:cNvPr id="10" name="TextBox 9"/>
          <p:cNvSpPr txBox="1"/>
          <p:nvPr/>
        </p:nvSpPr>
        <p:spPr>
          <a:xfrm>
            <a:off x="4297680" y="1325880"/>
            <a:ext cx="3657600" cy="320040"/>
          </a:xfrm>
          <a:prstGeom prst="rect">
            <a:avLst/>
          </a:prstGeom>
          <a:noFill/>
        </p:spPr>
        <p:txBody>
          <a:bodyPr wrap="none">
            <a:spAutoFit/>
          </a:bodyPr>
          <a:lstStyle/>
          <a:p>
            <a:pPr algn="ctr"/>
            <a:r>
              <a:rPr sz="1400" b="1">
                <a:solidFill>
                  <a:srgbClr val="0B6E7A"/>
                </a:solidFill>
                <a:latin typeface="Calibri"/>
              </a:rPr>
              <a:t>ResNet50</a:t>
            </a:r>
          </a:p>
        </p:txBody>
      </p:sp>
      <p:pic>
        <p:nvPicPr>
          <p:cNvPr id="11" name="Picture 10" descr="resnet50_confusion_matrix.png"/>
          <p:cNvPicPr>
            <a:picLocks noChangeAspect="1"/>
          </p:cNvPicPr>
          <p:nvPr/>
        </p:nvPicPr>
        <p:blipFill>
          <a:blip r:embed="rId3"/>
          <a:stretch>
            <a:fillRect/>
          </a:stretch>
        </p:blipFill>
        <p:spPr>
          <a:xfrm>
            <a:off x="4526280" y="1737360"/>
            <a:ext cx="4629150" cy="4114800"/>
          </a:xfrm>
          <a:prstGeom prst="rect">
            <a:avLst/>
          </a:prstGeom>
        </p:spPr>
      </p:pic>
      <p:sp>
        <p:nvSpPr>
          <p:cNvPr id="12" name="TextBox 11"/>
          <p:cNvSpPr txBox="1"/>
          <p:nvPr/>
        </p:nvSpPr>
        <p:spPr>
          <a:xfrm>
            <a:off x="8138160" y="1325880"/>
            <a:ext cx="3657600" cy="320040"/>
          </a:xfrm>
          <a:prstGeom prst="rect">
            <a:avLst/>
          </a:prstGeom>
          <a:noFill/>
        </p:spPr>
        <p:txBody>
          <a:bodyPr wrap="none">
            <a:spAutoFit/>
          </a:bodyPr>
          <a:lstStyle/>
          <a:p>
            <a:pPr algn="ctr"/>
            <a:r>
              <a:rPr sz="1400" b="1">
                <a:solidFill>
                  <a:srgbClr val="0B6E7A"/>
                </a:solidFill>
                <a:latin typeface="Calibri"/>
              </a:rPr>
              <a:t>Baseline</a:t>
            </a:r>
          </a:p>
        </p:txBody>
      </p:sp>
      <p:pic>
        <p:nvPicPr>
          <p:cNvPr id="13" name="Picture 12" descr="baseline_confusion_matrix.png"/>
          <p:cNvPicPr>
            <a:picLocks noChangeAspect="1"/>
          </p:cNvPicPr>
          <p:nvPr/>
        </p:nvPicPr>
        <p:blipFill>
          <a:blip r:embed="rId4"/>
          <a:stretch>
            <a:fillRect/>
          </a:stretch>
        </p:blipFill>
        <p:spPr>
          <a:xfrm>
            <a:off x="8366760" y="1737360"/>
            <a:ext cx="4629150" cy="4114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92240"/>
            <a:ext cx="9144000" cy="274320"/>
          </a:xfrm>
          <a:prstGeom prst="rect">
            <a:avLst/>
          </a:prstGeom>
          <a:noFill/>
        </p:spPr>
        <p:txBody>
          <a:bodyPr wrap="none">
            <a:spAutoFit/>
          </a:bodyPr>
          <a:lstStyle/>
          <a:p>
            <a:r>
              <a:rPr sz="1100" b="0">
                <a:solidFill>
                  <a:srgbClr val="5B6475"/>
                </a:solidFill>
                <a:latin typeface="Calibri"/>
              </a:rPr>
              <a:t>CAI2840C  ·  Parking Occupancy Detection  ·  9/11</a:t>
            </a:r>
          </a:p>
        </p:txBody>
      </p:sp>
      <p:sp>
        <p:nvSpPr>
          <p:cNvPr id="5" name="TextBox 4"/>
          <p:cNvSpPr txBox="1"/>
          <p:nvPr/>
        </p:nvSpPr>
        <p:spPr>
          <a:xfrm>
            <a:off x="10515600" y="6492240"/>
            <a:ext cx="1280160" cy="274320"/>
          </a:xfrm>
          <a:prstGeom prst="rect">
            <a:avLst/>
          </a:prstGeom>
          <a:noFill/>
        </p:spPr>
        <p:txBody>
          <a:bodyPr wrap="none">
            <a:spAutoFit/>
          </a:bodyPr>
          <a:lstStyle/>
          <a:p>
            <a:pPr algn="r"/>
            <a:r>
              <a:rPr sz="1100" b="0">
                <a:solidFill>
                  <a:srgbClr val="5B6475"/>
                </a:solidFill>
                <a:latin typeface="Calibri"/>
              </a:rPr>
              <a:t>Gimeno · Jauregui · Rudes</a:t>
            </a:r>
          </a:p>
        </p:txBody>
      </p:sp>
      <p:sp>
        <p:nvSpPr>
          <p:cNvPr id="6" name="TextBox 5"/>
          <p:cNvSpPr txBox="1"/>
          <p:nvPr/>
        </p:nvSpPr>
        <p:spPr>
          <a:xfrm>
            <a:off x="548640" y="320040"/>
            <a:ext cx="11155680" cy="640080"/>
          </a:xfrm>
          <a:prstGeom prst="rect">
            <a:avLst/>
          </a:prstGeom>
          <a:noFill/>
        </p:spPr>
        <p:txBody>
          <a:bodyPr wrap="none">
            <a:spAutoFit/>
          </a:bodyPr>
          <a:lstStyle/>
          <a:p>
            <a:r>
              <a:rPr sz="3200" b="1">
                <a:solidFill>
                  <a:srgbClr val="1A1F2E"/>
                </a:solidFill>
                <a:latin typeface="Calibri"/>
              </a:rPr>
              <a:t>Conditions &amp; failure patterns</a:t>
            </a:r>
          </a:p>
        </p:txBody>
      </p:sp>
      <p:sp>
        <p:nvSpPr>
          <p:cNvPr id="7" name="TextBox 6"/>
          <p:cNvSpPr txBox="1"/>
          <p:nvPr/>
        </p:nvSpPr>
        <p:spPr>
          <a:xfrm>
            <a:off x="548640" y="914400"/>
            <a:ext cx="11155680" cy="411480"/>
          </a:xfrm>
          <a:prstGeom prst="rect">
            <a:avLst/>
          </a:prstGeom>
          <a:noFill/>
        </p:spPr>
        <p:txBody>
          <a:bodyPr wrap="none">
            <a:spAutoFit/>
          </a:bodyPr>
          <a:lstStyle/>
          <a:p>
            <a:r>
              <a:rPr sz="1600" b="0">
                <a:solidFill>
                  <a:srgbClr val="5B6475"/>
                </a:solidFill>
                <a:latin typeface="Calibri"/>
              </a:rPr>
              <a:t>Connecting results to H1–H3</a:t>
            </a:r>
          </a:p>
        </p:txBody>
      </p:sp>
      <p:sp>
        <p:nvSpPr>
          <p:cNvPr id="8" name="Rounded Rectangle 7"/>
          <p:cNvSpPr/>
          <p:nvPr/>
        </p:nvSpPr>
        <p:spPr>
          <a:xfrm>
            <a:off x="548640" y="1417320"/>
            <a:ext cx="5486400" cy="4389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45920"/>
            <a:ext cx="4937760" cy="365760"/>
          </a:xfrm>
          <a:prstGeom prst="rect">
            <a:avLst/>
          </a:prstGeom>
          <a:noFill/>
        </p:spPr>
        <p:txBody>
          <a:bodyPr wrap="none">
            <a:spAutoFit/>
          </a:bodyPr>
          <a:lstStyle/>
          <a:p>
            <a:r>
              <a:rPr sz="1600" b="1">
                <a:solidFill>
                  <a:srgbClr val="0B6E7A"/>
                </a:solidFill>
                <a:latin typeface="Calibri"/>
              </a:rPr>
              <a:t>MobileNetV3 by weather (demo)</a:t>
            </a:r>
          </a:p>
        </p:txBody>
      </p:sp>
      <p:sp>
        <p:nvSpPr>
          <p:cNvPr id="10" name="TextBox 9"/>
          <p:cNvSpPr txBox="1"/>
          <p:nvPr/>
        </p:nvSpPr>
        <p:spPr>
          <a:xfrm>
            <a:off x="822960" y="2240280"/>
            <a:ext cx="1463040" cy="320040"/>
          </a:xfrm>
          <a:prstGeom prst="rect">
            <a:avLst/>
          </a:prstGeom>
          <a:noFill/>
        </p:spPr>
        <p:txBody>
          <a:bodyPr wrap="none">
            <a:spAutoFit/>
          </a:bodyPr>
          <a:lstStyle/>
          <a:p>
            <a:r>
              <a:rPr sz="1400" b="0">
                <a:solidFill>
                  <a:srgbClr val="1A1F2E"/>
                </a:solidFill>
                <a:latin typeface="Calibri"/>
              </a:rPr>
              <a:t>Rainy</a:t>
            </a:r>
          </a:p>
        </p:txBody>
      </p:sp>
      <p:sp>
        <p:nvSpPr>
          <p:cNvPr id="11" name="Rounded Rectangle 10"/>
          <p:cNvSpPr/>
          <p:nvPr/>
        </p:nvSpPr>
        <p:spPr>
          <a:xfrm>
            <a:off x="2377440" y="2286000"/>
            <a:ext cx="3108960" cy="292608"/>
          </a:xfrm>
          <a:prstGeom prst="roundRect">
            <a:avLst/>
          </a:prstGeom>
          <a:solidFill>
            <a:srgbClr val="D8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377440" y="2286000"/>
            <a:ext cx="3108960" cy="292608"/>
          </a:xfrm>
          <a:prstGeom prst="round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240280"/>
            <a:ext cx="914400" cy="320040"/>
          </a:xfrm>
          <a:prstGeom prst="rect">
            <a:avLst/>
          </a:prstGeom>
          <a:noFill/>
        </p:spPr>
        <p:txBody>
          <a:bodyPr wrap="none">
            <a:spAutoFit/>
          </a:bodyPr>
          <a:lstStyle/>
          <a:p>
            <a:r>
              <a:rPr sz="1400" b="1">
                <a:solidFill>
                  <a:srgbClr val="1A1F2E"/>
                </a:solidFill>
                <a:latin typeface="Calibri"/>
              </a:rPr>
              <a:t>100%</a:t>
            </a:r>
          </a:p>
        </p:txBody>
      </p:sp>
      <p:sp>
        <p:nvSpPr>
          <p:cNvPr id="14" name="TextBox 13"/>
          <p:cNvSpPr txBox="1"/>
          <p:nvPr/>
        </p:nvSpPr>
        <p:spPr>
          <a:xfrm>
            <a:off x="822960" y="3154680"/>
            <a:ext cx="1463040" cy="320040"/>
          </a:xfrm>
          <a:prstGeom prst="rect">
            <a:avLst/>
          </a:prstGeom>
          <a:noFill/>
        </p:spPr>
        <p:txBody>
          <a:bodyPr wrap="none">
            <a:spAutoFit/>
          </a:bodyPr>
          <a:lstStyle/>
          <a:p>
            <a:r>
              <a:rPr sz="1400" b="0">
                <a:solidFill>
                  <a:srgbClr val="1A1F2E"/>
                </a:solidFill>
                <a:latin typeface="Calibri"/>
              </a:rPr>
              <a:t>Cloudy</a:t>
            </a:r>
          </a:p>
        </p:txBody>
      </p:sp>
      <p:sp>
        <p:nvSpPr>
          <p:cNvPr id="15" name="Rounded Rectangle 14"/>
          <p:cNvSpPr/>
          <p:nvPr/>
        </p:nvSpPr>
        <p:spPr>
          <a:xfrm>
            <a:off x="2377440" y="3200400"/>
            <a:ext cx="3108960" cy="292608"/>
          </a:xfrm>
          <a:prstGeom prst="roundRect">
            <a:avLst/>
          </a:prstGeom>
          <a:solidFill>
            <a:srgbClr val="D8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377440" y="3200400"/>
            <a:ext cx="2766974" cy="292608"/>
          </a:xfrm>
          <a:prstGeom prst="round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3154680"/>
            <a:ext cx="914400" cy="320040"/>
          </a:xfrm>
          <a:prstGeom prst="rect">
            <a:avLst/>
          </a:prstGeom>
          <a:noFill/>
        </p:spPr>
        <p:txBody>
          <a:bodyPr wrap="none">
            <a:spAutoFit/>
          </a:bodyPr>
          <a:lstStyle/>
          <a:p>
            <a:r>
              <a:rPr sz="1400" b="1">
                <a:solidFill>
                  <a:srgbClr val="1A1F2E"/>
                </a:solidFill>
                <a:latin typeface="Calibri"/>
              </a:rPr>
              <a:t>89%</a:t>
            </a:r>
          </a:p>
        </p:txBody>
      </p:sp>
      <p:sp>
        <p:nvSpPr>
          <p:cNvPr id="18" name="TextBox 17"/>
          <p:cNvSpPr txBox="1"/>
          <p:nvPr/>
        </p:nvSpPr>
        <p:spPr>
          <a:xfrm>
            <a:off x="822960" y="4069080"/>
            <a:ext cx="1463040" cy="320040"/>
          </a:xfrm>
          <a:prstGeom prst="rect">
            <a:avLst/>
          </a:prstGeom>
          <a:noFill/>
        </p:spPr>
        <p:txBody>
          <a:bodyPr wrap="none">
            <a:spAutoFit/>
          </a:bodyPr>
          <a:lstStyle/>
          <a:p>
            <a:r>
              <a:rPr sz="1400" b="0">
                <a:solidFill>
                  <a:srgbClr val="1A1F2E"/>
                </a:solidFill>
                <a:latin typeface="Calibri"/>
              </a:rPr>
              <a:t>Sunny</a:t>
            </a:r>
          </a:p>
        </p:txBody>
      </p:sp>
      <p:sp>
        <p:nvSpPr>
          <p:cNvPr id="19" name="Rounded Rectangle 18"/>
          <p:cNvSpPr/>
          <p:nvPr/>
        </p:nvSpPr>
        <p:spPr>
          <a:xfrm>
            <a:off x="2377440" y="4114800"/>
            <a:ext cx="3108960" cy="292608"/>
          </a:xfrm>
          <a:prstGeom prst="roundRect">
            <a:avLst/>
          </a:prstGeom>
          <a:solidFill>
            <a:srgbClr val="D8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377440" y="4114800"/>
            <a:ext cx="2331720" cy="292608"/>
          </a:xfrm>
          <a:prstGeom prst="round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4069080"/>
            <a:ext cx="914400" cy="320040"/>
          </a:xfrm>
          <a:prstGeom prst="rect">
            <a:avLst/>
          </a:prstGeom>
          <a:noFill/>
        </p:spPr>
        <p:txBody>
          <a:bodyPr wrap="none">
            <a:spAutoFit/>
          </a:bodyPr>
          <a:lstStyle/>
          <a:p>
            <a:r>
              <a:rPr sz="1400" b="1">
                <a:solidFill>
                  <a:srgbClr val="1A1F2E"/>
                </a:solidFill>
                <a:latin typeface="Calibri"/>
              </a:rPr>
              <a:t>75%</a:t>
            </a:r>
          </a:p>
        </p:txBody>
      </p:sp>
      <p:sp>
        <p:nvSpPr>
          <p:cNvPr id="22" name="TextBox 21"/>
          <p:cNvSpPr txBox="1"/>
          <p:nvPr/>
        </p:nvSpPr>
        <p:spPr>
          <a:xfrm>
            <a:off x="822960" y="5029200"/>
            <a:ext cx="4937760" cy="548640"/>
          </a:xfrm>
          <a:prstGeom prst="rect">
            <a:avLst/>
          </a:prstGeom>
          <a:noFill/>
        </p:spPr>
        <p:txBody>
          <a:bodyPr wrap="square">
            <a:spAutoFit/>
          </a:bodyPr>
          <a:lstStyle/>
          <a:p>
            <a:r>
              <a:rPr sz="1300" b="0">
                <a:solidFill>
                  <a:srgbClr val="5B6475"/>
                </a:solidFill>
                <a:latin typeface="Calibri"/>
              </a:rPr>
              <a:t>Also tracked: dataset, camera, and scene accuracy when n ≥ 5.</a:t>
            </a:r>
          </a:p>
        </p:txBody>
      </p:sp>
      <p:sp>
        <p:nvSpPr>
          <p:cNvPr id="23" name="Rounded Rectangle 22"/>
          <p:cNvSpPr/>
          <p:nvPr/>
        </p:nvSpPr>
        <p:spPr>
          <a:xfrm>
            <a:off x="6309360" y="1417320"/>
            <a:ext cx="5303520" cy="4389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1645920"/>
            <a:ext cx="4846320" cy="365760"/>
          </a:xfrm>
          <a:prstGeom prst="rect">
            <a:avLst/>
          </a:prstGeom>
          <a:noFill/>
        </p:spPr>
        <p:txBody>
          <a:bodyPr wrap="none">
            <a:spAutoFit/>
          </a:bodyPr>
          <a:lstStyle/>
          <a:p>
            <a:r>
              <a:rPr sz="1600" b="1">
                <a:solidFill>
                  <a:srgbClr val="0B6E7A"/>
                </a:solidFill>
                <a:latin typeface="Calibri"/>
              </a:rPr>
              <a:t>What failures suggest</a:t>
            </a:r>
          </a:p>
        </p:txBody>
      </p:sp>
      <p:sp>
        <p:nvSpPr>
          <p:cNvPr id="25" name="TextBox 24"/>
          <p:cNvSpPr txBox="1"/>
          <p:nvPr/>
        </p:nvSpPr>
        <p:spPr>
          <a:xfrm>
            <a:off x="6583680" y="2148840"/>
            <a:ext cx="4754880" cy="3291840"/>
          </a:xfrm>
          <a:prstGeom prst="rect">
            <a:avLst/>
          </a:prstGeom>
          <a:noFill/>
        </p:spPr>
        <p:txBody>
          <a:bodyPr wrap="square">
            <a:spAutoFit/>
          </a:bodyPr>
          <a:lstStyle/>
          <a:p>
            <a:pPr>
              <a:spcAft>
                <a:spcPts val="1000"/>
              </a:spcAft>
            </a:pPr>
            <a:r>
              <a:rPr sz="1500" b="0">
                <a:solidFill>
                  <a:srgbClr val="1A1F2E"/>
                </a:solidFill>
                <a:latin typeface="Calibri"/>
              </a:rPr>
              <a:t>•  Vision-only models still struggle at the edges of lighting and layout</a:t>
            </a:r>
          </a:p>
          <a:p>
            <a:pPr>
              <a:spcAft>
                <a:spcPts val="1000"/>
              </a:spcAft>
            </a:pPr>
            <a:r>
              <a:rPr sz="1500" b="0">
                <a:solidFill>
                  <a:srgbClr val="1A1F2E"/>
                </a:solidFill>
                <a:latin typeface="Calibri"/>
              </a:rPr>
              <a:t>•  Cross-dataset gaps support the need for diverse training scenes</a:t>
            </a:r>
          </a:p>
          <a:p>
            <a:pPr>
              <a:spcAft>
                <a:spcPts val="1000"/>
              </a:spcAft>
            </a:pPr>
            <a:r>
              <a:rPr sz="1500" b="0">
                <a:solidFill>
                  <a:srgbClr val="1A1F2E"/>
                </a:solidFill>
                <a:latin typeface="Calibri"/>
              </a:rPr>
              <a:t>•  Exported failure CSVs support qualitative review (shadows, glare, occlusion)</a:t>
            </a:r>
          </a:p>
          <a:p>
            <a:pPr>
              <a:spcAft>
                <a:spcPts val="1000"/>
              </a:spcAft>
            </a:pPr>
            <a:r>
              <a:rPr sz="1500" b="0">
                <a:solidFill>
                  <a:srgbClr val="1A1F2E"/>
                </a:solidFill>
                <a:latin typeface="Calibri"/>
              </a:rPr>
              <a:t>•  Points toward future sensor-fusion—not replacing cameras, complementing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92240"/>
            <a:ext cx="9144000" cy="274320"/>
          </a:xfrm>
          <a:prstGeom prst="rect">
            <a:avLst/>
          </a:prstGeom>
          <a:noFill/>
        </p:spPr>
        <p:txBody>
          <a:bodyPr wrap="none">
            <a:spAutoFit/>
          </a:bodyPr>
          <a:lstStyle/>
          <a:p>
            <a:r>
              <a:rPr sz="1100" b="0">
                <a:solidFill>
                  <a:srgbClr val="5B6475"/>
                </a:solidFill>
                <a:latin typeface="Calibri"/>
              </a:rPr>
              <a:t>CAI2840C  ·  Parking Occupancy Detection  ·  10/11</a:t>
            </a:r>
          </a:p>
        </p:txBody>
      </p:sp>
      <p:sp>
        <p:nvSpPr>
          <p:cNvPr id="5" name="TextBox 4"/>
          <p:cNvSpPr txBox="1"/>
          <p:nvPr/>
        </p:nvSpPr>
        <p:spPr>
          <a:xfrm>
            <a:off x="10515600" y="6492240"/>
            <a:ext cx="1280160" cy="274320"/>
          </a:xfrm>
          <a:prstGeom prst="rect">
            <a:avLst/>
          </a:prstGeom>
          <a:noFill/>
        </p:spPr>
        <p:txBody>
          <a:bodyPr wrap="none">
            <a:spAutoFit/>
          </a:bodyPr>
          <a:lstStyle/>
          <a:p>
            <a:pPr algn="r"/>
            <a:r>
              <a:rPr sz="1100" b="0">
                <a:solidFill>
                  <a:srgbClr val="5B6475"/>
                </a:solidFill>
                <a:latin typeface="Calibri"/>
              </a:rPr>
              <a:t>Gimeno · Jauregui · Rudes</a:t>
            </a:r>
          </a:p>
        </p:txBody>
      </p:sp>
      <p:sp>
        <p:nvSpPr>
          <p:cNvPr id="6" name="TextBox 5"/>
          <p:cNvSpPr txBox="1"/>
          <p:nvPr/>
        </p:nvSpPr>
        <p:spPr>
          <a:xfrm>
            <a:off x="548640" y="320040"/>
            <a:ext cx="11155680" cy="640080"/>
          </a:xfrm>
          <a:prstGeom prst="rect">
            <a:avLst/>
          </a:prstGeom>
          <a:noFill/>
        </p:spPr>
        <p:txBody>
          <a:bodyPr wrap="none">
            <a:spAutoFit/>
          </a:bodyPr>
          <a:lstStyle/>
          <a:p>
            <a:r>
              <a:rPr sz="3200" b="1">
                <a:solidFill>
                  <a:srgbClr val="1A1F2E"/>
                </a:solidFill>
                <a:latin typeface="Calibri"/>
              </a:rPr>
              <a:t>What the answer means</a:t>
            </a:r>
          </a:p>
        </p:txBody>
      </p:sp>
      <p:sp>
        <p:nvSpPr>
          <p:cNvPr id="7" name="TextBox 6"/>
          <p:cNvSpPr txBox="1"/>
          <p:nvPr/>
        </p:nvSpPr>
        <p:spPr>
          <a:xfrm>
            <a:off x="548640" y="914400"/>
            <a:ext cx="11155680" cy="411480"/>
          </a:xfrm>
          <a:prstGeom prst="rect">
            <a:avLst/>
          </a:prstGeom>
          <a:noFill/>
        </p:spPr>
        <p:txBody>
          <a:bodyPr wrap="none">
            <a:spAutoFit/>
          </a:bodyPr>
          <a:lstStyle/>
          <a:p>
            <a:r>
              <a:rPr sz="1600" b="0">
                <a:solidFill>
                  <a:srgbClr val="5B6475"/>
                </a:solidFill>
                <a:latin typeface="Calibri"/>
              </a:rPr>
              <a:t>Implications for real-time smart parking</a:t>
            </a:r>
          </a:p>
        </p:txBody>
      </p:sp>
      <p:sp>
        <p:nvSpPr>
          <p:cNvPr id="8" name="Rounded Rectangle 7"/>
          <p:cNvSpPr/>
          <p:nvPr/>
        </p:nvSpPr>
        <p:spPr>
          <a:xfrm>
            <a:off x="548640" y="1371600"/>
            <a:ext cx="11064240" cy="960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08760"/>
            <a:ext cx="10424160" cy="274320"/>
          </a:xfrm>
          <a:prstGeom prst="rect">
            <a:avLst/>
          </a:prstGeom>
          <a:noFill/>
        </p:spPr>
        <p:txBody>
          <a:bodyPr wrap="none">
            <a:spAutoFit/>
          </a:bodyPr>
          <a:lstStyle/>
          <a:p>
            <a:r>
              <a:rPr sz="1600" b="1">
                <a:solidFill>
                  <a:srgbClr val="0B6E7A"/>
                </a:solidFill>
                <a:latin typeface="Calibri"/>
              </a:rPr>
              <a:t>Best practical balance</a:t>
            </a:r>
          </a:p>
        </p:txBody>
      </p:sp>
      <p:sp>
        <p:nvSpPr>
          <p:cNvPr id="10" name="TextBox 9"/>
          <p:cNvSpPr txBox="1"/>
          <p:nvPr/>
        </p:nvSpPr>
        <p:spPr>
          <a:xfrm>
            <a:off x="868680" y="1828800"/>
            <a:ext cx="10424160" cy="365760"/>
          </a:xfrm>
          <a:prstGeom prst="rect">
            <a:avLst/>
          </a:prstGeom>
          <a:noFill/>
        </p:spPr>
        <p:txBody>
          <a:bodyPr wrap="none">
            <a:spAutoFit/>
          </a:bodyPr>
          <a:lstStyle/>
          <a:p>
            <a:r>
              <a:rPr sz="1400" b="0">
                <a:solidFill>
                  <a:srgbClr val="1A1F2E"/>
                </a:solidFill>
                <a:latin typeface="Calibri"/>
              </a:rPr>
              <a:t>MobileNetV3 combines strong F1 with small size and high FPS—best fit for edge/real-time deployment among the four.</a:t>
            </a:r>
          </a:p>
        </p:txBody>
      </p:sp>
      <p:sp>
        <p:nvSpPr>
          <p:cNvPr id="11" name="Rounded Rectangle 10"/>
          <p:cNvSpPr/>
          <p:nvPr/>
        </p:nvSpPr>
        <p:spPr>
          <a:xfrm>
            <a:off x="548640" y="2468880"/>
            <a:ext cx="11064240" cy="960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606040"/>
            <a:ext cx="10424160" cy="274320"/>
          </a:xfrm>
          <a:prstGeom prst="rect">
            <a:avLst/>
          </a:prstGeom>
          <a:noFill/>
        </p:spPr>
        <p:txBody>
          <a:bodyPr wrap="none">
            <a:spAutoFit/>
          </a:bodyPr>
          <a:lstStyle/>
          <a:p>
            <a:r>
              <a:rPr sz="1600" b="1">
                <a:solidFill>
                  <a:srgbClr val="0B6E7A"/>
                </a:solidFill>
                <a:latin typeface="Calibri"/>
              </a:rPr>
              <a:t>Reliability ≠ one number</a:t>
            </a:r>
          </a:p>
        </p:txBody>
      </p:sp>
      <p:sp>
        <p:nvSpPr>
          <p:cNvPr id="13" name="TextBox 12"/>
          <p:cNvSpPr txBox="1"/>
          <p:nvPr/>
        </p:nvSpPr>
        <p:spPr>
          <a:xfrm>
            <a:off x="868680" y="2926080"/>
            <a:ext cx="10424160" cy="365760"/>
          </a:xfrm>
          <a:prstGeom prst="rect">
            <a:avLst/>
          </a:prstGeom>
          <a:noFill/>
        </p:spPr>
        <p:txBody>
          <a:bodyPr wrap="none">
            <a:spAutoFit/>
          </a:bodyPr>
          <a:lstStyle/>
          <a:p>
            <a:r>
              <a:rPr sz="1400" b="0">
                <a:solidFill>
                  <a:srgbClr val="1A1F2E"/>
                </a:solidFill>
                <a:latin typeface="Calibri"/>
              </a:rPr>
              <a:t>Condition and dataset breakdowns matter as much as overall accuracy for city systems.</a:t>
            </a:r>
          </a:p>
        </p:txBody>
      </p:sp>
      <p:sp>
        <p:nvSpPr>
          <p:cNvPr id="14" name="Rounded Rectangle 13"/>
          <p:cNvSpPr/>
          <p:nvPr/>
        </p:nvSpPr>
        <p:spPr>
          <a:xfrm>
            <a:off x="548640" y="3566160"/>
            <a:ext cx="11064240" cy="960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703320"/>
            <a:ext cx="10424160" cy="274320"/>
          </a:xfrm>
          <a:prstGeom prst="rect">
            <a:avLst/>
          </a:prstGeom>
          <a:noFill/>
        </p:spPr>
        <p:txBody>
          <a:bodyPr wrap="none">
            <a:spAutoFit/>
          </a:bodyPr>
          <a:lstStyle/>
          <a:p>
            <a:r>
              <a:rPr sz="1600" b="1">
                <a:solidFill>
                  <a:srgbClr val="0B6E7A"/>
                </a:solidFill>
                <a:latin typeface="Calibri"/>
              </a:rPr>
              <a:t>Vision has limits</a:t>
            </a:r>
          </a:p>
        </p:txBody>
      </p:sp>
      <p:sp>
        <p:nvSpPr>
          <p:cNvPr id="16" name="TextBox 15"/>
          <p:cNvSpPr txBox="1"/>
          <p:nvPr/>
        </p:nvSpPr>
        <p:spPr>
          <a:xfrm>
            <a:off x="868680" y="4023360"/>
            <a:ext cx="10424160" cy="365760"/>
          </a:xfrm>
          <a:prstGeom prst="rect">
            <a:avLst/>
          </a:prstGeom>
          <a:noFill/>
        </p:spPr>
        <p:txBody>
          <a:bodyPr wrap="none">
            <a:spAutoFit/>
          </a:bodyPr>
          <a:lstStyle/>
          <a:p>
            <a:r>
              <a:rPr sz="1400" b="0">
                <a:solidFill>
                  <a:srgbClr val="1A1F2E"/>
                </a:solidFill>
                <a:latin typeface="Calibri"/>
              </a:rPr>
              <a:t>Failure patterns under hard conditions motivate camera + ultrasonic / radar / IoT fusion research.</a:t>
            </a:r>
          </a:p>
        </p:txBody>
      </p:sp>
      <p:sp>
        <p:nvSpPr>
          <p:cNvPr id="17" name="Rounded Rectangle 16"/>
          <p:cNvSpPr/>
          <p:nvPr/>
        </p:nvSpPr>
        <p:spPr>
          <a:xfrm>
            <a:off x="548640" y="4663440"/>
            <a:ext cx="11064240" cy="960120"/>
          </a:xfrm>
          <a:prstGeom prst="roundRect">
            <a:avLst>
              <a:gd name="adj" fmla="val 8000"/>
            </a:avLst>
          </a:prstGeom>
          <a:solidFill>
            <a:srgbClr val="FFFFFF"/>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800600"/>
            <a:ext cx="10424160" cy="274320"/>
          </a:xfrm>
          <a:prstGeom prst="rect">
            <a:avLst/>
          </a:prstGeom>
          <a:noFill/>
        </p:spPr>
        <p:txBody>
          <a:bodyPr wrap="none">
            <a:spAutoFit/>
          </a:bodyPr>
          <a:lstStyle/>
          <a:p>
            <a:r>
              <a:rPr sz="1600" b="1">
                <a:solidFill>
                  <a:srgbClr val="0B6E7A"/>
                </a:solidFill>
                <a:latin typeface="Calibri"/>
              </a:rPr>
              <a:t>Reproducible framework</a:t>
            </a:r>
          </a:p>
        </p:txBody>
      </p:sp>
      <p:sp>
        <p:nvSpPr>
          <p:cNvPr id="19" name="TextBox 18"/>
          <p:cNvSpPr txBox="1"/>
          <p:nvPr/>
        </p:nvSpPr>
        <p:spPr>
          <a:xfrm>
            <a:off x="868680" y="5120640"/>
            <a:ext cx="10424160" cy="365760"/>
          </a:xfrm>
          <a:prstGeom prst="rect">
            <a:avLst/>
          </a:prstGeom>
          <a:noFill/>
        </p:spPr>
        <p:txBody>
          <a:bodyPr wrap="none">
            <a:spAutoFit/>
          </a:bodyPr>
          <a:lstStyle/>
          <a:p>
            <a:r>
              <a:rPr sz="1400" b="0">
                <a:solidFill>
                  <a:srgbClr val="1A1F2E"/>
                </a:solidFill>
                <a:latin typeface="Calibri"/>
              </a:rPr>
              <a:t>Shared splits, configs, and metrics let others extend the study to full PKLot/CNRPark-EXT and optional YOLO.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B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15600" cy="548640"/>
          </a:xfrm>
          <a:prstGeom prst="rect">
            <a:avLst/>
          </a:prstGeom>
          <a:noFill/>
        </p:spPr>
        <p:txBody>
          <a:bodyPr wrap="none">
            <a:spAutoFit/>
          </a:bodyPr>
          <a:lstStyle/>
          <a:p>
            <a:r>
              <a:rPr sz="4000" b="1">
                <a:solidFill>
                  <a:srgbClr val="1A1F2E"/>
                </a:solidFill>
                <a:latin typeface="Calibri"/>
              </a:rPr>
              <a:t>Thank you</a:t>
            </a:r>
          </a:p>
        </p:txBody>
      </p:sp>
      <p:sp>
        <p:nvSpPr>
          <p:cNvPr id="6" name="TextBox 5"/>
          <p:cNvSpPr txBox="1"/>
          <p:nvPr/>
        </p:nvSpPr>
        <p:spPr>
          <a:xfrm>
            <a:off x="822960" y="2651760"/>
            <a:ext cx="10515600" cy="731520"/>
          </a:xfrm>
          <a:prstGeom prst="rect">
            <a:avLst/>
          </a:prstGeom>
          <a:noFill/>
        </p:spPr>
        <p:txBody>
          <a:bodyPr wrap="square">
            <a:spAutoFit/>
          </a:bodyPr>
          <a:lstStyle/>
          <a:p>
            <a:r>
              <a:rPr sz="2000" b="0">
                <a:solidFill>
                  <a:srgbClr val="5B6475"/>
                </a:solidFill>
                <a:latin typeface="Calibri"/>
              </a:rPr>
              <a:t>Questions?
Repo: github.com/thefreemannet/Parking</a:t>
            </a:r>
          </a:p>
        </p:txBody>
      </p:sp>
      <p:sp>
        <p:nvSpPr>
          <p:cNvPr id="7" name="TextBox 6"/>
          <p:cNvSpPr txBox="1"/>
          <p:nvPr/>
        </p:nvSpPr>
        <p:spPr>
          <a:xfrm>
            <a:off x="822960" y="4389120"/>
            <a:ext cx="10515600" cy="1097280"/>
          </a:xfrm>
          <a:prstGeom prst="rect">
            <a:avLst/>
          </a:prstGeom>
          <a:noFill/>
        </p:spPr>
        <p:txBody>
          <a:bodyPr wrap="square">
            <a:spAutoFit/>
          </a:bodyPr>
          <a:lstStyle/>
          <a:p>
            <a:r>
              <a:rPr sz="1500" b="0">
                <a:solidFill>
                  <a:srgbClr val="0B6E7A"/>
                </a:solidFill>
                <a:latin typeface="Calibri"/>
              </a:rPr>
              <a:t>Next steps: full PKLot + CNRPark-EXT training · deeper fine-tuning · optional YOLOv8s/YOLO11n full-scene track</a:t>
            </a:r>
          </a:p>
        </p:txBody>
      </p:sp>
      <p:sp>
        <p:nvSpPr>
          <p:cNvPr id="8" name="TextBox 7"/>
          <p:cNvSpPr txBox="1"/>
          <p:nvPr/>
        </p:nvSpPr>
        <p:spPr>
          <a:xfrm>
            <a:off x="822960" y="5760720"/>
            <a:ext cx="10515600" cy="365760"/>
          </a:xfrm>
          <a:prstGeom prst="rect">
            <a:avLst/>
          </a:prstGeom>
          <a:noFill/>
        </p:spPr>
        <p:txBody>
          <a:bodyPr wrap="none">
            <a:spAutoFit/>
          </a:bodyPr>
          <a:lstStyle/>
          <a:p>
            <a:r>
              <a:rPr sz="1400" b="0">
                <a:solidFill>
                  <a:srgbClr val="5B6475"/>
                </a:solidFill>
                <a:latin typeface="Calibri"/>
              </a:rPr>
              <a:t>Joaquin Gimeno  ·  Fernando Jauregui  ·  Eliot Rudes  ·  CAI2840C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